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Lst>
  <p:sldSz cx="7559675" cy="1069149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6" Type="http://schemas.openxmlformats.org/officeDocument/2006/relationships/slideLayout" Target="../slideLayouts/slideLayout1.xml"/><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2" Type="http://schemas.openxmlformats.org/officeDocument/2006/relationships/slideLayout" Target="../slideLayouts/slideLayout1.xml"/><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7560005" cy="10692003"/>
          </a:xfrm>
          <a:prstGeom prst="rect">
            <a:avLst/>
          </a:prstGeom>
        </p:spPr>
      </p:pic>
      <p:graphicFrame>
        <p:nvGraphicFramePr>
          <p:cNvPr id="4" name="table 4"/>
          <p:cNvGraphicFramePr>
            <a:graphicFrameLocks noGrp="1"/>
          </p:cNvGraphicFramePr>
          <p:nvPr/>
        </p:nvGraphicFramePr>
        <p:xfrm>
          <a:off x="708967" y="8495599"/>
          <a:ext cx="6206490" cy="1597660"/>
        </p:xfrm>
        <a:graphic>
          <a:graphicData uri="http://schemas.openxmlformats.org/drawingml/2006/table">
            <a:tbl>
              <a:tblPr/>
              <a:tblGrid>
                <a:gridCol w="1246505"/>
                <a:gridCol w="1003935"/>
                <a:gridCol w="1043305"/>
                <a:gridCol w="1136650"/>
                <a:gridCol w="1146175"/>
                <a:gridCol w="629920"/>
              </a:tblGrid>
              <a:tr h="1597660">
                <a:tc>
                  <a:txBody>
                    <a:bodyPr/>
                    <a:lstStyle/>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572135" algn="l" rtl="0" eaLnBrk="0">
                        <a:lnSpc>
                          <a:spcPct val="79000"/>
                        </a:lnSpc>
                        <a:spcBef>
                          <a:spcPts val="5"/>
                        </a:spcBef>
                      </a:pPr>
                      <a:r>
                        <a:rPr sz="1000" kern="0" spc="-40" dirty="0">
                          <a:solidFill>
                            <a:srgbClr val="221815">
                              <a:alpha val="100000"/>
                            </a:srgbClr>
                          </a:solidFill>
                          <a:latin typeface="Source Han Sans CN Medium"/>
                          <a:ea typeface="Source Han Sans CN Medium"/>
                          <a:cs typeface="Source Han Sans CN Medium"/>
                        </a:rPr>
                        <a:t>H30</a:t>
                      </a:r>
                      <a:endParaRPr sz="1000" dirty="0">
                        <a:latin typeface="Source Han Sans CN Medium"/>
                        <a:ea typeface="Source Han Sans CN Medium"/>
                        <a:cs typeface="Source Han Sans CN Medium"/>
                      </a:endParaRPr>
                    </a:p>
                  </a:txBody>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363855" algn="l" rtl="0" eaLnBrk="0">
                        <a:lnSpc>
                          <a:spcPct val="79000"/>
                        </a:lnSpc>
                        <a:spcBef>
                          <a:spcPts val="5"/>
                        </a:spcBef>
                      </a:pPr>
                      <a:r>
                        <a:rPr sz="1000" kern="0" spc="-40" dirty="0">
                          <a:solidFill>
                            <a:srgbClr val="221815">
                              <a:alpha val="100000"/>
                            </a:srgbClr>
                          </a:solidFill>
                          <a:latin typeface="Source Han Sans CN Medium"/>
                          <a:ea typeface="Source Han Sans CN Medium"/>
                          <a:cs typeface="Source Han Sans CN Medium"/>
                        </a:rPr>
                        <a:t> H20</a:t>
                      </a:r>
                      <a:endParaRPr sz="1000" dirty="0">
                        <a:latin typeface="Source Han Sans CN Medium"/>
                        <a:ea typeface="Source Han Sans CN Medium"/>
                        <a:cs typeface="Source Han Sans CN Medium"/>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324485" algn="l" rtl="0" eaLnBrk="0">
                        <a:lnSpc>
                          <a:spcPct val="88000"/>
                        </a:lnSpc>
                      </a:pPr>
                      <a:r>
                        <a:rPr sz="1000" kern="0" spc="-30" dirty="0">
                          <a:solidFill>
                            <a:srgbClr val="221815">
                              <a:alpha val="100000"/>
                            </a:srgbClr>
                          </a:solidFill>
                          <a:latin typeface="Source Han Sans CN Medium"/>
                          <a:ea typeface="Source Han Sans CN Medium"/>
                          <a:cs typeface="Source Han Sans CN Medium"/>
                        </a:rPr>
                        <a:t> Shouter</a:t>
                      </a:r>
                      <a:endParaRPr sz="1000" dirty="0">
                        <a:latin typeface="Source Han Sans CN Medium"/>
                        <a:ea typeface="Source Han Sans CN Medium"/>
                        <a:cs typeface="Source Han Sans CN Medium"/>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201930" algn="l" rtl="0" eaLnBrk="0">
                        <a:lnSpc>
                          <a:spcPct val="88000"/>
                        </a:lnSpc>
                        <a:spcBef>
                          <a:spcPts val="0"/>
                        </a:spcBef>
                      </a:pPr>
                      <a:r>
                        <a:rPr sz="1000" kern="0" spc="-30" dirty="0">
                          <a:solidFill>
                            <a:srgbClr val="221815">
                              <a:alpha val="100000"/>
                            </a:srgbClr>
                          </a:solidFill>
                          <a:latin typeface="Source Han Sans CN Medium"/>
                          <a:ea typeface="Source Han Sans CN Medium"/>
                          <a:cs typeface="Source Han Sans CN Medium"/>
                        </a:rPr>
                        <a:t> Methane Telemeters</a:t>
                      </a:r>
                      <a:endParaRPr sz="1000" dirty="0">
                        <a:latin typeface="Source Han Sans CN Medium"/>
                        <a:ea typeface="Source Han Sans CN Medium"/>
                        <a:cs typeface="Source Han Sans CN Medium"/>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33045" algn="l" rtl="0" eaLnBrk="0">
                        <a:lnSpc>
                          <a:spcPct val="89000"/>
                        </a:lnSpc>
                      </a:pPr>
                      <a:r>
                        <a:rPr sz="1000" kern="0" spc="-20" dirty="0">
                          <a:solidFill>
                            <a:srgbClr val="221815">
                              <a:alpha val="100000"/>
                            </a:srgbClr>
                          </a:solidFill>
                          <a:latin typeface="Source Han Sans CN Medium"/>
                          <a:ea typeface="Source Han Sans CN Medium"/>
                          <a:cs typeface="Source Han Sans CN Medium"/>
                        </a:rPr>
                        <a:t> Gas Detector</a:t>
                      </a:r>
                      <a:endParaRPr sz="1000" dirty="0">
                        <a:latin typeface="Source Han Sans CN Medium"/>
                        <a:ea typeface="Source Han Sans CN Medium"/>
                        <a:cs typeface="Source Han Sans CN Medium"/>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46685" algn="l" rtl="0" eaLnBrk="0">
                        <a:lnSpc>
                          <a:spcPts val="290"/>
                        </a:lnSpc>
                      </a:pPr>
                      <a:r>
                        <a:rPr sz="1300" kern="0" spc="-30" dirty="0">
                          <a:solidFill>
                            <a:srgbClr val="221815">
                              <a:alpha val="100000"/>
                            </a:srgbClr>
                          </a:solidFill>
                          <a:latin typeface="Source Han Sans CN Medium"/>
                          <a:ea typeface="Source Han Sans CN Medium"/>
                          <a:cs typeface="Source Han Sans CN Medium"/>
                        </a:rPr>
                        <a:t> ......</a:t>
                      </a:r>
                      <a:endParaRPr sz="1300" dirty="0">
                        <a:latin typeface="Source Han Sans CN Medium"/>
                        <a:ea typeface="Source Han Sans CN Medium"/>
                        <a:cs typeface="Source Han Sans CN Medium"/>
                      </a:endParaRPr>
                    </a:p>
                  </a:txBody>
                  <a:tcPr marL="0" marR="0" marT="0" marB="0" vert="horz">
                    <a:lnL>
                      <a:noFill/>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6" name="picture 6"/>
          <p:cNvPicPr>
            <a:picLocks noChangeAspect="1"/>
          </p:cNvPicPr>
          <p:nvPr/>
        </p:nvPicPr>
        <p:blipFill>
          <a:blip r:embed="rId2"/>
          <a:stretch>
            <a:fillRect/>
          </a:stretch>
        </p:blipFill>
        <p:spPr>
          <a:xfrm rot="21600000">
            <a:off x="3637938" y="2330288"/>
            <a:ext cx="3442143" cy="2088373"/>
          </a:xfrm>
          <a:prstGeom prst="rect">
            <a:avLst/>
          </a:prstGeom>
        </p:spPr>
      </p:pic>
      <p:sp>
        <p:nvSpPr>
          <p:cNvPr id="8" name="textbox 8"/>
          <p:cNvSpPr/>
          <p:nvPr/>
        </p:nvSpPr>
        <p:spPr>
          <a:xfrm>
            <a:off x="455295" y="1997075"/>
            <a:ext cx="3173095" cy="2591435"/>
          </a:xfrm>
          <a:prstGeom prst="rect">
            <a:avLst/>
          </a:prstGeom>
          <a:noFill/>
          <a:ln w="0" cap="flat">
            <a:noFill/>
            <a:prstDash val="solid"/>
            <a:miter lim="0"/>
          </a:ln>
        </p:spPr>
        <p:txBody>
          <a:bodyPr vert="horz" wrap="square" lIns="0" tIns="0" rIns="0" bIns="0"/>
          <a:lstStyle/>
          <a:p>
            <a:pPr algn="l" rtl="0" eaLnBrk="0">
              <a:lnSpc>
                <a:spcPct val="100000"/>
              </a:lnSpc>
            </a:pPr>
            <a:r>
              <a:rPr sz="950" kern="0" spc="30" dirty="0">
                <a:solidFill>
                  <a:srgbClr val="221815">
                    <a:alpha val="100000"/>
                  </a:srgbClr>
                </a:solidFill>
                <a:latin typeface="Source Han Sans CN Medium"/>
                <a:ea typeface="Source Han Sans CN Medium"/>
                <a:cs typeface="Source Han Sans CN Medium"/>
              </a:rPr>
              <a:t>The UAV automated airport integrates advanced automation technology, UAV management system and safety protection mechanism.</a:t>
            </a:r>
            <a:endParaRPr sz="950" dirty="0">
              <a:latin typeface="Source Han Sans CN Medium"/>
              <a:ea typeface="Source Han Sans CN Medium"/>
              <a:cs typeface="Source Han Sans CN Medium"/>
            </a:endParaRPr>
          </a:p>
          <a:p>
            <a:pPr marL="12700" indent="1270" algn="l" rtl="0" eaLnBrk="0">
              <a:lnSpc>
                <a:spcPct val="100000"/>
              </a:lnSpc>
              <a:spcBef>
                <a:spcPts val="25"/>
              </a:spcBef>
            </a:pPr>
            <a:r>
              <a:rPr sz="950" kern="0" spc="0" dirty="0">
                <a:solidFill>
                  <a:srgbClr val="221815">
                    <a:alpha val="100000"/>
                  </a:srgbClr>
                </a:solidFill>
                <a:latin typeface="Source Han Sans CN Medium"/>
                <a:ea typeface="Source Han Sans CN Medium"/>
                <a:cs typeface="Source Han Sans CN Medium"/>
              </a:rPr>
              <a:t>It integrates advanced automation technology, UAV management system and safety protection </a:t>
            </a:r>
            <a:r>
              <a:rPr sz="950" kern="0" spc="-10" dirty="0">
                <a:solidFill>
                  <a:srgbClr val="221815">
                    <a:alpha val="100000"/>
                  </a:srgbClr>
                </a:solidFill>
                <a:latin typeface="Source Han Sans CN Medium"/>
                <a:ea typeface="Source Han Sans CN Medium"/>
                <a:cs typeface="Source Han Sans CN Medium"/>
              </a:rPr>
              <a:t>mechanism, </a:t>
            </a:r>
            <a:r>
              <a:rPr sz="950" kern="0" spc="-30" dirty="0">
                <a:solidFill>
                  <a:srgbClr val="221815">
                    <a:alpha val="100000"/>
                  </a:srgbClr>
                </a:solidFill>
                <a:latin typeface="Source Han Sans CN Medium"/>
                <a:ea typeface="Source Han Sans CN Medium"/>
                <a:cs typeface="Source Han Sans CN Medium"/>
              </a:rPr>
              <a:t>aiming to provide a safe and convenient storage and take-off </a:t>
            </a:r>
            <a:r>
              <a:rPr sz="950" kern="0" spc="-60" dirty="0">
                <a:solidFill>
                  <a:srgbClr val="221815">
                    <a:alpha val="100000"/>
                  </a:srgbClr>
                </a:solidFill>
                <a:latin typeface="Source Han Sans CN Medium"/>
                <a:ea typeface="Source Han Sans CN Medium"/>
                <a:cs typeface="Source Han Sans CN Medium"/>
              </a:rPr>
              <a:t>platform </a:t>
            </a:r>
            <a:r>
              <a:rPr sz="950" kern="0" spc="-30" dirty="0">
                <a:solidFill>
                  <a:srgbClr val="221815">
                    <a:alpha val="100000"/>
                  </a:srgbClr>
                </a:solidFill>
                <a:latin typeface="Source Han Sans CN Medium"/>
                <a:ea typeface="Source Han Sans CN Medium"/>
                <a:cs typeface="Source Han Sans CN Medium"/>
              </a:rPr>
              <a:t>for UAVs</a:t>
            </a:r>
            <a:r>
              <a:rPr sz="950" kern="0" spc="-60" dirty="0">
                <a:solidFill>
                  <a:srgbClr val="221815">
                    <a:alpha val="100000"/>
                  </a:srgbClr>
                </a:solidFill>
                <a:latin typeface="Source Han Sans CN Medium"/>
                <a:ea typeface="Source Han Sans CN Medium"/>
                <a:cs typeface="Source Han Sans CN Medium"/>
              </a:rPr>
              <a:t>, reduce manual intervention, increase the attendance rate of UAVs, </a:t>
            </a:r>
            <a:r>
              <a:rPr sz="950" kern="0" spc="80" dirty="0">
                <a:solidFill>
                  <a:srgbClr val="221815">
                    <a:alpha val="100000"/>
                  </a:srgbClr>
                </a:solidFill>
                <a:latin typeface="Source Han Sans CN Medium"/>
                <a:ea typeface="Source Han Sans CN Medium"/>
                <a:cs typeface="Source Han Sans CN Medium"/>
              </a:rPr>
              <a:t>and </a:t>
            </a:r>
            <a:r>
              <a:rPr sz="950" kern="0" spc="10" dirty="0">
                <a:solidFill>
                  <a:srgbClr val="221815">
                    <a:alpha val="100000"/>
                  </a:srgbClr>
                </a:solidFill>
                <a:latin typeface="Source Han Sans CN Medium"/>
                <a:ea typeface="Source Han Sans CN Medium"/>
                <a:cs typeface="Source Han Sans CN Medium"/>
              </a:rPr>
              <a:t>ensure the safe </a:t>
            </a:r>
            <a:r>
              <a:rPr sz="950" kern="0" spc="0" dirty="0">
                <a:solidFill>
                  <a:srgbClr val="221815">
                    <a:alpha val="100000"/>
                  </a:srgbClr>
                </a:solidFill>
                <a:latin typeface="Source Han Sans CN Medium"/>
                <a:ea typeface="Source Han Sans CN Medium"/>
                <a:cs typeface="Source Han Sans CN Medium"/>
              </a:rPr>
              <a:t>storage of </a:t>
            </a:r>
            <a:r>
              <a:rPr sz="950" kern="0" spc="10" dirty="0">
                <a:solidFill>
                  <a:srgbClr val="221815">
                    <a:alpha val="100000"/>
                  </a:srgbClr>
                </a:solidFill>
                <a:latin typeface="Source Han Sans CN Medium"/>
                <a:ea typeface="Source Han Sans CN Medium"/>
                <a:cs typeface="Source Han Sans CN Medium"/>
              </a:rPr>
              <a:t>UAVs</a:t>
            </a:r>
            <a:r>
              <a:rPr sz="950" kern="0" spc="0" dirty="0">
                <a:solidFill>
                  <a:srgbClr val="221815">
                    <a:alpha val="100000"/>
                  </a:srgbClr>
                </a:solidFill>
                <a:latin typeface="Source Han Sans CN Medium"/>
                <a:ea typeface="Source Han Sans CN Medium"/>
                <a:cs typeface="Source Han Sans CN Medium"/>
              </a:rPr>
              <a:t>. Equipped with the M350RTK </a:t>
            </a:r>
            <a:r>
              <a:rPr sz="950" kern="0" spc="-30" dirty="0">
                <a:solidFill>
                  <a:srgbClr val="221815">
                    <a:alpha val="100000"/>
                  </a:srgbClr>
                </a:solidFill>
                <a:latin typeface="Source Han Sans CN Medium"/>
                <a:ea typeface="Source Han Sans CN Medium"/>
                <a:cs typeface="Source Han Sans CN Medium"/>
              </a:rPr>
              <a:t>series UAV, it can realize the </a:t>
            </a:r>
            <a:r>
              <a:rPr sz="950" kern="0" spc="0" dirty="0">
                <a:solidFill>
                  <a:srgbClr val="221815">
                    <a:alpha val="100000"/>
                  </a:srgbClr>
                </a:solidFill>
                <a:latin typeface="Source Han Sans CN Medium"/>
                <a:ea typeface="Source Han Sans CN Medium"/>
                <a:cs typeface="Source Han Sans CN Medium"/>
              </a:rPr>
              <a:t>remote </a:t>
            </a:r>
            <a:r>
              <a:rPr sz="950" kern="0" spc="-10" dirty="0">
                <a:solidFill>
                  <a:srgbClr val="221815">
                    <a:alpha val="100000"/>
                  </a:srgbClr>
                </a:solidFill>
                <a:latin typeface="Source Han Sans CN Medium"/>
                <a:ea typeface="Source Han Sans CN Medium"/>
                <a:cs typeface="Source Han Sans CN Medium"/>
              </a:rPr>
              <a:t>and </a:t>
            </a:r>
            <a:r>
              <a:rPr sz="950" kern="0" spc="0" dirty="0">
                <a:solidFill>
                  <a:srgbClr val="221815">
                    <a:alpha val="100000"/>
                  </a:srgbClr>
                </a:solidFill>
                <a:latin typeface="Source Han Sans CN Medium"/>
                <a:ea typeface="Source Han Sans CN Medium"/>
                <a:cs typeface="Source Han Sans CN Medium"/>
              </a:rPr>
              <a:t>automated operation process </a:t>
            </a:r>
            <a:r>
              <a:rPr sz="950" kern="0" spc="-30" dirty="0">
                <a:solidFill>
                  <a:srgbClr val="221815">
                    <a:alpha val="100000"/>
                  </a:srgbClr>
                </a:solidFill>
                <a:latin typeface="Source Han Sans CN Medium"/>
                <a:ea typeface="Source Han Sans CN Medium"/>
                <a:cs typeface="Source Han Sans CN Medium"/>
              </a:rPr>
              <a:t>from automatic takeoff, automatic </a:t>
            </a:r>
            <a:r>
              <a:rPr sz="950" kern="0" spc="20" dirty="0">
                <a:solidFill>
                  <a:srgbClr val="221815">
                    <a:alpha val="100000"/>
                  </a:srgbClr>
                </a:solidFill>
                <a:latin typeface="Source Han Sans CN Medium"/>
                <a:ea typeface="Source Han Sans CN Medium"/>
                <a:cs typeface="Source Han Sans CN Medium"/>
              </a:rPr>
              <a:t>cruise</a:t>
            </a:r>
            <a:r>
              <a:rPr sz="950" kern="0" spc="-80" dirty="0">
                <a:solidFill>
                  <a:srgbClr val="221815">
                    <a:alpha val="100000"/>
                  </a:srgbClr>
                </a:solidFill>
                <a:latin typeface="Source Han Sans CN Medium"/>
                <a:ea typeface="Source Han Sans CN Medium"/>
                <a:cs typeface="Source Han Sans CN Medium"/>
              </a:rPr>
              <a:t>, automatic shooting, automatic returning to the nest for charging, data analysis to </a:t>
            </a:r>
            <a:r>
              <a:rPr sz="950" kern="0" spc="0" dirty="0">
                <a:solidFill>
                  <a:srgbClr val="221815">
                    <a:alpha val="100000"/>
                  </a:srgbClr>
                </a:solidFill>
                <a:latin typeface="Source Han Sans CN Medium"/>
                <a:ea typeface="Source Han Sans CN Medium"/>
                <a:cs typeface="Source Han Sans CN Medium"/>
              </a:rPr>
              <a:t>automatic takeoff. This eliminates the need for professional UAV pilots</a:t>
            </a:r>
            <a:r>
              <a:rPr sz="950" kern="0" spc="-10" dirty="0">
                <a:solidFill>
                  <a:srgbClr val="221815">
                    <a:alpha val="100000"/>
                  </a:srgbClr>
                </a:solidFill>
                <a:latin typeface="Source Han Sans CN Medium"/>
                <a:ea typeface="Source Han Sans CN Medium"/>
                <a:cs typeface="Source Han Sans CN Medium"/>
              </a:rPr>
              <a:t>, </a:t>
            </a:r>
            <a:r>
              <a:rPr sz="950" kern="0" spc="0" dirty="0">
                <a:solidFill>
                  <a:srgbClr val="221815">
                    <a:alpha val="100000"/>
                  </a:srgbClr>
                </a:solidFill>
                <a:latin typeface="Source Han Sans CN Medium"/>
                <a:ea typeface="Source Han Sans CN Medium"/>
                <a:cs typeface="Source Han Sans CN Medium"/>
              </a:rPr>
              <a:t>ensures the stability and </a:t>
            </a:r>
            <a:r>
              <a:rPr sz="950" kern="0" spc="-10" dirty="0">
                <a:solidFill>
                  <a:srgbClr val="221815">
                    <a:alpha val="100000"/>
                  </a:srgbClr>
                </a:solidFill>
                <a:latin typeface="Source Han Sans CN Medium"/>
                <a:ea typeface="Source Han Sans CN Medium"/>
                <a:cs typeface="Source Han Sans CN Medium"/>
              </a:rPr>
              <a:t>consistency</a:t>
            </a:r>
            <a:r>
              <a:rPr sz="950" kern="0" spc="0" dirty="0">
                <a:solidFill>
                  <a:srgbClr val="221815">
                    <a:alpha val="100000"/>
                  </a:srgbClr>
                </a:solidFill>
                <a:latin typeface="Source Han Sans CN Medium"/>
                <a:ea typeface="Source Han Sans CN Medium"/>
                <a:cs typeface="Source Han Sans CN Medium"/>
              </a:rPr>
              <a:t> of UAV flight results</a:t>
            </a:r>
            <a:r>
              <a:rPr sz="950" kern="0" spc="-10" dirty="0">
                <a:solidFill>
                  <a:srgbClr val="221815">
                    <a:alpha val="100000"/>
                  </a:srgbClr>
                </a:solidFill>
                <a:latin typeface="Source Han Sans CN Medium"/>
                <a:ea typeface="Source Han Sans CN Medium"/>
                <a:cs typeface="Source Han Sans CN Medium"/>
              </a:rPr>
              <a:t>, </a:t>
            </a:r>
            <a:r>
              <a:rPr sz="950" kern="0" spc="0" dirty="0">
                <a:solidFill>
                  <a:srgbClr val="221815">
                    <a:alpha val="100000"/>
                  </a:srgbClr>
                </a:solidFill>
                <a:latin typeface="Source Han Sans CN Medium"/>
                <a:ea typeface="Source Han Sans CN Medium"/>
                <a:cs typeface="Source Han Sans CN Medium"/>
              </a:rPr>
              <a:t>and </a:t>
            </a:r>
            <a:r>
              <a:rPr sz="950" kern="0" spc="-10" dirty="0">
                <a:solidFill>
                  <a:srgbClr val="221815">
                    <a:alpha val="100000"/>
                  </a:srgbClr>
                </a:solidFill>
                <a:latin typeface="Source Han Sans CN Medium"/>
                <a:ea typeface="Source Han Sans CN Medium"/>
                <a:cs typeface="Source Han Sans CN Medium"/>
              </a:rPr>
              <a:t>reduces the </a:t>
            </a:r>
            <a:r>
              <a:rPr sz="950" kern="0" spc="-20" dirty="0">
                <a:solidFill>
                  <a:srgbClr val="221815">
                    <a:alpha val="100000"/>
                  </a:srgbClr>
                </a:solidFill>
                <a:latin typeface="Source Han Sans CN Medium"/>
                <a:ea typeface="Source Han Sans CN Medium"/>
                <a:cs typeface="Source Han Sans CN Medium"/>
              </a:rPr>
              <a:t>overall cost </a:t>
            </a:r>
            <a:r>
              <a:rPr sz="950" kern="0" spc="-10" dirty="0">
                <a:solidFill>
                  <a:srgbClr val="221815">
                    <a:alpha val="100000"/>
                  </a:srgbClr>
                </a:solidFill>
                <a:latin typeface="Source Han Sans CN Medium"/>
                <a:ea typeface="Source Han Sans CN Medium"/>
                <a:cs typeface="Source Han Sans CN Medium"/>
              </a:rPr>
              <a:t>of UAS operation</a:t>
            </a:r>
            <a:r>
              <a:rPr sz="950" kern="0" spc="-20" dirty="0">
                <a:solidFill>
                  <a:srgbClr val="221815">
                    <a:alpha val="100000"/>
                  </a:srgbClr>
                </a:solidFill>
                <a:latin typeface="Source Han Sans CN Medium"/>
                <a:ea typeface="Source Han Sans CN Medium"/>
                <a:cs typeface="Source Han Sans CN Medium"/>
              </a:rPr>
              <a:t>.</a:t>
            </a:r>
            <a:endParaRPr sz="950" dirty="0">
              <a:latin typeface="Source Han Sans CN Medium"/>
              <a:ea typeface="Source Han Sans CN Medium"/>
              <a:cs typeface="Source Han Sans CN Medium"/>
            </a:endParaRPr>
          </a:p>
        </p:txBody>
      </p:sp>
      <p:sp>
        <p:nvSpPr>
          <p:cNvPr id="10" name="textbox 10"/>
          <p:cNvSpPr/>
          <p:nvPr/>
        </p:nvSpPr>
        <p:spPr>
          <a:xfrm>
            <a:off x="474980" y="585470"/>
            <a:ext cx="6605270" cy="106108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algn="r" rtl="0" eaLnBrk="0">
              <a:lnSpc>
                <a:spcPct val="75000"/>
              </a:lnSpc>
            </a:pPr>
            <a:r>
              <a:rPr sz="2700" kern="0" spc="-10" dirty="0">
                <a:solidFill>
                  <a:srgbClr val="221815">
                    <a:alpha val="100000"/>
                  </a:srgbClr>
                </a:solidFill>
                <a:latin typeface="YouSheBiaoTiHei"/>
                <a:ea typeface="YouSheBiaoTiHei"/>
                <a:cs typeface="YouSheBiaoTiHei"/>
              </a:rPr>
              <a:t> UAV Autonomous Inspection System</a:t>
            </a:r>
            <a:endParaRPr sz="2700" dirty="0">
              <a:latin typeface="YouSheBiaoTiHei"/>
              <a:ea typeface="YouSheBiaoTiHei"/>
              <a:cs typeface="YouSheBiaoTiHei"/>
            </a:endParaRPr>
          </a:p>
          <a:p>
            <a:pPr marL="2713990" algn="l" rtl="0" eaLnBrk="0">
              <a:lnSpc>
                <a:spcPct val="88000"/>
              </a:lnSpc>
              <a:spcBef>
                <a:spcPts val="870"/>
              </a:spcBef>
            </a:pPr>
            <a:r>
              <a:rPr sz="1600" kern="0" spc="-60" dirty="0">
                <a:solidFill>
                  <a:srgbClr val="221815">
                    <a:alpha val="100000"/>
                  </a:srgbClr>
                </a:solidFill>
                <a:latin typeface="Source Han Sans CN Medium"/>
                <a:ea typeface="Source Han Sans CN Medium"/>
                <a:cs typeface="Source Han Sans CN Medium"/>
              </a:rPr>
              <a:t> Automated Airport</a:t>
            </a:r>
            <a:endParaRPr sz="1600" dirty="0">
              <a:latin typeface="Source Han Sans CN Medium"/>
              <a:ea typeface="Source Han Sans CN Medium"/>
              <a:cs typeface="Source Han Sans CN Medium"/>
            </a:endParaRPr>
          </a:p>
          <a:p>
            <a:pPr algn="l" rtl="0" eaLnBrk="0">
              <a:lnSpc>
                <a:spcPct val="121000"/>
              </a:lnSpc>
            </a:pPr>
            <a:endParaRPr sz="400" dirty="0">
              <a:latin typeface="Arial" panose="020B0604020202020204"/>
              <a:ea typeface="Arial" panose="020B0604020202020204"/>
              <a:cs typeface="Arial" panose="020B0604020202020204"/>
            </a:endParaRPr>
          </a:p>
          <a:p>
            <a:pPr marL="12700" algn="l" rtl="0" eaLnBrk="0">
              <a:lnSpc>
                <a:spcPct val="87000"/>
              </a:lnSpc>
              <a:spcBef>
                <a:spcPts val="5"/>
              </a:spcBef>
            </a:pPr>
            <a:r>
              <a:rPr sz="1600" b="1" kern="0" spc="-30" dirty="0">
                <a:solidFill>
                  <a:srgbClr val="221815">
                    <a:alpha val="100000"/>
                  </a:srgbClr>
                </a:solidFill>
                <a:latin typeface="PingFang SC"/>
                <a:ea typeface="PingFang SC"/>
                <a:cs typeface="PingFang SC"/>
              </a:rPr>
              <a:t> </a:t>
            </a:r>
            <a:endParaRPr sz="1600" b="1" kern="0" spc="-30" dirty="0">
              <a:solidFill>
                <a:srgbClr val="221815">
                  <a:alpha val="100000"/>
                </a:srgbClr>
              </a:solidFill>
              <a:latin typeface="PingFang SC"/>
              <a:ea typeface="PingFang SC"/>
              <a:cs typeface="PingFang SC"/>
            </a:endParaRPr>
          </a:p>
          <a:p>
            <a:pPr marL="12700" algn="l" rtl="0" eaLnBrk="0">
              <a:lnSpc>
                <a:spcPct val="87000"/>
              </a:lnSpc>
              <a:spcBef>
                <a:spcPts val="5"/>
              </a:spcBef>
            </a:pPr>
            <a:r>
              <a:rPr sz="1600" b="1" kern="0" spc="-30" dirty="0">
                <a:solidFill>
                  <a:srgbClr val="221815">
                    <a:alpha val="100000"/>
                  </a:srgbClr>
                </a:solidFill>
                <a:latin typeface="PingFang SC"/>
                <a:ea typeface="PingFang SC"/>
                <a:cs typeface="PingFang SC"/>
              </a:rPr>
              <a:t>Product Description</a:t>
            </a:r>
            <a:endParaRPr sz="1600" dirty="0">
              <a:latin typeface="PingFang SC"/>
              <a:ea typeface="PingFang SC"/>
              <a:cs typeface="PingFang SC"/>
            </a:endParaRPr>
          </a:p>
        </p:txBody>
      </p:sp>
      <p:sp>
        <p:nvSpPr>
          <p:cNvPr id="12" name="textbox 12"/>
          <p:cNvSpPr/>
          <p:nvPr/>
        </p:nvSpPr>
        <p:spPr>
          <a:xfrm>
            <a:off x="1561550" y="6964601"/>
            <a:ext cx="1899285" cy="735330"/>
          </a:xfrm>
          <a:prstGeom prst="rect">
            <a:avLst/>
          </a:prstGeom>
          <a:noFill/>
          <a:ln w="0" cap="flat">
            <a:noFill/>
            <a:prstDash val="solid"/>
            <a:miter lim="0"/>
          </a:ln>
        </p:spPr>
        <p:txBody>
          <a:bodyPr vert="horz" wrap="square" lIns="0" tIns="0" rIns="0" bIns="0"/>
          <a:lstStyle/>
          <a:p>
            <a:pPr algn="ctr" rtl="0" eaLnBrk="0">
              <a:lnSpc>
                <a:spcPct val="100000"/>
              </a:lnSpc>
            </a:pPr>
            <a:r>
              <a:rPr sz="800" b="1" kern="0" spc="-30" dirty="0">
                <a:solidFill>
                  <a:srgbClr val="221815">
                    <a:alpha val="100000"/>
                  </a:srgbClr>
                </a:solidFill>
                <a:latin typeface="PingFang SC"/>
                <a:ea typeface="PingFang SC"/>
                <a:cs typeface="PingFang SC"/>
              </a:rPr>
              <a:t>High Reliability</a:t>
            </a:r>
            <a:endParaRPr sz="800" dirty="0">
              <a:latin typeface="PingFang SC"/>
              <a:ea typeface="PingFang SC"/>
              <a:cs typeface="PingFang SC"/>
            </a:endParaRPr>
          </a:p>
          <a:p>
            <a:pPr marL="12700" algn="ctr" rtl="0" eaLnBrk="0">
              <a:lnSpc>
                <a:spcPct val="100000"/>
              </a:lnSpc>
              <a:spcBef>
                <a:spcPts val="590"/>
              </a:spcBef>
            </a:pPr>
            <a:r>
              <a:rPr sz="800" kern="0" spc="30" dirty="0">
                <a:solidFill>
                  <a:srgbClr val="221815">
                    <a:alpha val="100000"/>
                  </a:srgbClr>
                </a:solidFill>
                <a:latin typeface="Source Han Sans CN Medium"/>
                <a:ea typeface="Source Han Sans CN Medium"/>
                <a:cs typeface="Source Han Sans CN Medium"/>
              </a:rPr>
              <a:t> Adopts advanced visual fusion guidance landing</a:t>
            </a:r>
            <a:r>
              <a:rPr sz="800" kern="0" spc="-50" dirty="0">
                <a:solidFill>
                  <a:srgbClr val="221815">
                    <a:alpha val="100000"/>
                  </a:srgbClr>
                </a:solidFill>
                <a:latin typeface="Source Han Sans CN Medium"/>
                <a:ea typeface="Source Han Sans CN Medium"/>
                <a:cs typeface="Source Han Sans CN Medium"/>
              </a:rPr>
              <a:t>technology, no matter day or night, wind or rain</a:t>
            </a:r>
            <a:r>
              <a:rPr sz="800" kern="0" spc="-60" dirty="0">
                <a:solidFill>
                  <a:srgbClr val="221815">
                    <a:alpha val="100000"/>
                  </a:srgbClr>
                </a:solidFill>
                <a:latin typeface="Source Han Sans CN Medium"/>
                <a:ea typeface="Source Han Sans CN Medium"/>
                <a:cs typeface="Source Han Sans CN Medium"/>
              </a:rPr>
              <a:t>, the</a:t>
            </a:r>
            <a:endParaRPr sz="800" dirty="0">
              <a:latin typeface="Source Han Sans CN Medium"/>
              <a:ea typeface="Source Han Sans CN Medium"/>
              <a:cs typeface="Source Han Sans CN Medium"/>
            </a:endParaRPr>
          </a:p>
          <a:p>
            <a:pPr algn="ctr" rtl="0" eaLnBrk="0">
              <a:lnSpc>
                <a:spcPct val="100000"/>
              </a:lnSpc>
            </a:pPr>
            <a:r>
              <a:rPr sz="800" kern="0" spc="-20" dirty="0">
                <a:solidFill>
                  <a:srgbClr val="221815">
                    <a:alpha val="100000"/>
                  </a:srgbClr>
                </a:solidFill>
                <a:latin typeface="Source Han Sans CN Medium"/>
                <a:ea typeface="Source Han Sans CN Medium"/>
                <a:cs typeface="Source Han Sans CN Medium"/>
              </a:rPr>
              <a:t>UAV can land accurately</a:t>
            </a:r>
            <a:endParaRPr sz="800" dirty="0">
              <a:latin typeface="Source Han Sans CN Medium"/>
              <a:ea typeface="Source Han Sans CN Medium"/>
              <a:cs typeface="Source Han Sans CN Medium"/>
            </a:endParaRPr>
          </a:p>
        </p:txBody>
      </p:sp>
      <p:sp>
        <p:nvSpPr>
          <p:cNvPr id="14" name="textbox 14"/>
          <p:cNvSpPr/>
          <p:nvPr/>
        </p:nvSpPr>
        <p:spPr>
          <a:xfrm>
            <a:off x="4100841" y="6965523"/>
            <a:ext cx="1861185" cy="739775"/>
          </a:xfrm>
          <a:prstGeom prst="rect">
            <a:avLst/>
          </a:prstGeom>
          <a:noFill/>
          <a:ln w="0" cap="flat">
            <a:noFill/>
            <a:prstDash val="solid"/>
            <a:miter lim="0"/>
          </a:ln>
        </p:spPr>
        <p:txBody>
          <a:bodyPr vert="horz" wrap="square" lIns="0" tIns="0" rIns="0" bIns="0"/>
          <a:lstStyle/>
          <a:p>
            <a:pPr algn="ctr" rtl="0" eaLnBrk="0">
              <a:lnSpc>
                <a:spcPct val="100000"/>
              </a:lnSpc>
            </a:pPr>
            <a:r>
              <a:rPr sz="800" b="1" kern="0" spc="-20" dirty="0">
                <a:solidFill>
                  <a:srgbClr val="221815">
                    <a:alpha val="100000"/>
                  </a:srgbClr>
                </a:solidFill>
                <a:latin typeface="PingFang SC"/>
                <a:ea typeface="PingFang SC"/>
                <a:cs typeface="PingFang SC"/>
              </a:rPr>
              <a:t> Weather Monitoring</a:t>
            </a:r>
            <a:endParaRPr sz="800" dirty="0">
              <a:latin typeface="PingFang SC"/>
              <a:ea typeface="PingFang SC"/>
              <a:cs typeface="PingFang SC"/>
            </a:endParaRPr>
          </a:p>
          <a:p>
            <a:pPr algn="ctr" rtl="0" eaLnBrk="0">
              <a:lnSpc>
                <a:spcPct val="100000"/>
              </a:lnSpc>
            </a:pPr>
            <a:endParaRPr sz="800" dirty="0">
              <a:latin typeface="Arial" panose="020B0604020202020204"/>
              <a:ea typeface="Arial" panose="020B0604020202020204"/>
              <a:cs typeface="Arial" panose="020B0604020202020204"/>
            </a:endParaRPr>
          </a:p>
          <a:p>
            <a:pPr marL="16510" indent="-3810" algn="ctr" rtl="0" eaLnBrk="0">
              <a:lnSpc>
                <a:spcPct val="100000"/>
              </a:lnSpc>
              <a:spcBef>
                <a:spcPts val="0"/>
              </a:spcBef>
            </a:pPr>
            <a:r>
              <a:rPr sz="800" kern="0" spc="30" dirty="0">
                <a:solidFill>
                  <a:srgbClr val="221815">
                    <a:alpha val="100000"/>
                  </a:srgbClr>
                </a:solidFill>
                <a:latin typeface="Source Han Sans CN Medium"/>
                <a:ea typeface="Source Han Sans CN Medium"/>
                <a:cs typeface="Source Han Sans CN Medium"/>
              </a:rPr>
              <a:t> Equipped with weather station and video surveillance for </a:t>
            </a:r>
            <a:r>
              <a:rPr sz="800" kern="0" spc="10" dirty="0">
                <a:solidFill>
                  <a:srgbClr val="221815">
                    <a:alpha val="100000"/>
                  </a:srgbClr>
                </a:solidFill>
                <a:latin typeface="Source Han Sans CN Medium"/>
                <a:ea typeface="Source Han Sans CN Medium"/>
                <a:cs typeface="Source Han Sans CN Medium"/>
              </a:rPr>
              <a:t>real-time </a:t>
            </a:r>
            <a:r>
              <a:rPr sz="800" kern="0" spc="-40" dirty="0">
                <a:solidFill>
                  <a:srgbClr val="221815">
                    <a:alpha val="100000"/>
                  </a:srgbClr>
                </a:solidFill>
                <a:latin typeface="Source Han Sans CN Medium"/>
                <a:ea typeface="Source Han Sans CN Medium"/>
                <a:cs typeface="Source Han Sans CN Medium"/>
              </a:rPr>
              <a:t>operation and automatic judgment of takeoff </a:t>
            </a:r>
            <a:r>
              <a:rPr sz="800" kern="0" spc="-20" dirty="0">
                <a:solidFill>
                  <a:srgbClr val="221815">
                    <a:alpha val="100000"/>
                  </a:srgbClr>
                </a:solidFill>
                <a:latin typeface="Source Han Sans CN Medium"/>
                <a:ea typeface="Source Han Sans CN Medium"/>
                <a:cs typeface="Source Han Sans CN Medium"/>
              </a:rPr>
              <a:t>environment, UPS and self-developed industrial air-conditioning are provided.</a:t>
            </a:r>
            <a:endParaRPr sz="800" dirty="0">
              <a:latin typeface="Source Han Sans CN Medium"/>
              <a:ea typeface="Source Han Sans CN Medium"/>
              <a:cs typeface="Source Han Sans CN Medium"/>
            </a:endParaRPr>
          </a:p>
        </p:txBody>
      </p:sp>
      <p:sp>
        <p:nvSpPr>
          <p:cNvPr id="16" name="textbox 16"/>
          <p:cNvSpPr/>
          <p:nvPr/>
        </p:nvSpPr>
        <p:spPr>
          <a:xfrm>
            <a:off x="4946650" y="5715000"/>
            <a:ext cx="1968500" cy="735965"/>
          </a:xfrm>
          <a:prstGeom prst="rect">
            <a:avLst/>
          </a:prstGeom>
          <a:noFill/>
          <a:ln w="0" cap="flat">
            <a:noFill/>
            <a:prstDash val="solid"/>
            <a:miter lim="0"/>
          </a:ln>
        </p:spPr>
        <p:txBody>
          <a:bodyPr vert="horz" wrap="square" lIns="0" tIns="0" rIns="0" bIns="0"/>
          <a:lstStyle/>
          <a:p>
            <a:pPr algn="ctr" rtl="0" eaLnBrk="0">
              <a:lnSpc>
                <a:spcPct val="89000"/>
              </a:lnSpc>
            </a:pPr>
            <a:r>
              <a:rPr sz="800" b="1" kern="0" spc="-30" dirty="0">
                <a:solidFill>
                  <a:srgbClr val="221815">
                    <a:alpha val="100000"/>
                  </a:srgbClr>
                </a:solidFill>
                <a:latin typeface="PingFang SC"/>
                <a:ea typeface="PingFang SC"/>
                <a:cs typeface="PingFang SC"/>
              </a:rPr>
              <a:t> High compatibility</a:t>
            </a:r>
            <a:endParaRPr sz="800" b="1" kern="0" spc="-30" dirty="0">
              <a:solidFill>
                <a:srgbClr val="221815">
                  <a:alpha val="100000"/>
                </a:srgbClr>
              </a:solidFill>
              <a:latin typeface="PingFang SC"/>
              <a:ea typeface="PingFang SC"/>
              <a:cs typeface="PingFang SC"/>
            </a:endParaRPr>
          </a:p>
          <a:p>
            <a:pPr algn="ctr" rtl="0" eaLnBrk="0">
              <a:lnSpc>
                <a:spcPct val="89000"/>
              </a:lnSpc>
            </a:pPr>
            <a:endParaRPr sz="800" dirty="0">
              <a:latin typeface="PingFang SC"/>
              <a:ea typeface="PingFang SC"/>
              <a:cs typeface="PingFang SC"/>
            </a:endParaRPr>
          </a:p>
          <a:p>
            <a:pPr algn="ctr" rtl="0" eaLnBrk="0">
              <a:lnSpc>
                <a:spcPct val="88000"/>
              </a:lnSpc>
              <a:spcBef>
                <a:spcPts val="590"/>
              </a:spcBef>
            </a:pPr>
            <a:r>
              <a:rPr sz="800" kern="0" spc="-70" dirty="0">
                <a:solidFill>
                  <a:srgbClr val="221815">
                    <a:alpha val="100000"/>
                  </a:srgbClr>
                </a:solidFill>
                <a:latin typeface="Source Han Sans CN Medium"/>
                <a:ea typeface="Source Han Sans CN Medium"/>
                <a:cs typeface="Source Han Sans CN Medium"/>
              </a:rPr>
              <a:t> It can be adapted to DJI Matrix M350 RTK,</a:t>
            </a:r>
            <a:endParaRPr sz="800" dirty="0">
              <a:latin typeface="Source Han Sans CN Medium"/>
              <a:ea typeface="Source Han Sans CN Medium"/>
              <a:cs typeface="Source Han Sans CN Medium"/>
            </a:endParaRPr>
          </a:p>
          <a:p>
            <a:pPr marL="17145" algn="ctr" rtl="0" eaLnBrk="0">
              <a:lnSpc>
                <a:spcPct val="88000"/>
              </a:lnSpc>
              <a:spcBef>
                <a:spcPts val="350"/>
              </a:spcBef>
            </a:pPr>
            <a:r>
              <a:rPr sz="800" kern="0" spc="-60" dirty="0">
                <a:solidFill>
                  <a:srgbClr val="221815">
                    <a:alpha val="100000"/>
                  </a:srgbClr>
                </a:solidFill>
                <a:latin typeface="Source Han Sans CN Medium"/>
                <a:ea typeface="Source Han Sans CN Medium"/>
                <a:cs typeface="Source Han Sans CN Medium"/>
              </a:rPr>
              <a:t> M300 RTK drones, according to the industry</a:t>
            </a:r>
            <a:endParaRPr sz="800" dirty="0">
              <a:latin typeface="Arial" panose="020B0604020202020204"/>
              <a:ea typeface="Arial" panose="020B0604020202020204"/>
              <a:cs typeface="Arial" panose="020B0604020202020204"/>
            </a:endParaRPr>
          </a:p>
          <a:p>
            <a:pPr marL="146685" algn="ctr" rtl="0" eaLnBrk="0">
              <a:lnSpc>
                <a:spcPct val="89000"/>
              </a:lnSpc>
            </a:pPr>
            <a:r>
              <a:rPr sz="800" kern="0" spc="-20" dirty="0">
                <a:solidFill>
                  <a:srgbClr val="221815">
                    <a:alpha val="100000"/>
                  </a:srgbClr>
                </a:solidFill>
                <a:latin typeface="Source Han Sans CN Medium"/>
                <a:ea typeface="Source Han Sans CN Medium"/>
                <a:cs typeface="Source Han Sans CN Medium"/>
              </a:rPr>
              <a:t> Adaptable to relevant mounts according to industrial application scenarios.</a:t>
            </a:r>
            <a:endParaRPr sz="800" dirty="0">
              <a:latin typeface="Source Han Sans CN Medium"/>
              <a:ea typeface="Source Han Sans CN Medium"/>
              <a:cs typeface="Source Han Sans CN Medium"/>
            </a:endParaRPr>
          </a:p>
        </p:txBody>
      </p:sp>
      <p:pic>
        <p:nvPicPr>
          <p:cNvPr id="18" name="picture 18"/>
          <p:cNvPicPr>
            <a:picLocks noChangeAspect="1"/>
          </p:cNvPicPr>
          <p:nvPr/>
        </p:nvPicPr>
        <p:blipFill>
          <a:blip r:embed="rId3"/>
          <a:stretch>
            <a:fillRect/>
          </a:stretch>
        </p:blipFill>
        <p:spPr>
          <a:xfrm rot="21600000">
            <a:off x="4104661" y="8716563"/>
            <a:ext cx="932827" cy="995855"/>
          </a:xfrm>
          <a:prstGeom prst="rect">
            <a:avLst/>
          </a:prstGeom>
        </p:spPr>
      </p:pic>
      <p:pic>
        <p:nvPicPr>
          <p:cNvPr id="20" name="picture 20"/>
          <p:cNvPicPr>
            <a:picLocks noChangeAspect="1"/>
          </p:cNvPicPr>
          <p:nvPr/>
        </p:nvPicPr>
        <p:blipFill>
          <a:blip r:embed="rId4"/>
          <a:stretch>
            <a:fillRect/>
          </a:stretch>
        </p:blipFill>
        <p:spPr>
          <a:xfrm rot="21600000">
            <a:off x="947838" y="8706993"/>
            <a:ext cx="889931" cy="939675"/>
          </a:xfrm>
          <a:prstGeom prst="rect">
            <a:avLst/>
          </a:prstGeom>
        </p:spPr>
      </p:pic>
      <p:pic>
        <p:nvPicPr>
          <p:cNvPr id="22" name="picture 22"/>
          <p:cNvPicPr>
            <a:picLocks noChangeAspect="1"/>
          </p:cNvPicPr>
          <p:nvPr/>
        </p:nvPicPr>
        <p:blipFill>
          <a:blip r:embed="rId5"/>
          <a:stretch>
            <a:fillRect/>
          </a:stretch>
        </p:blipFill>
        <p:spPr>
          <a:xfrm rot="21600000">
            <a:off x="2073882" y="8723676"/>
            <a:ext cx="782008" cy="959190"/>
          </a:xfrm>
          <a:prstGeom prst="rect">
            <a:avLst/>
          </a:prstGeom>
        </p:spPr>
      </p:pic>
      <p:pic>
        <p:nvPicPr>
          <p:cNvPr id="24" name="picture 24"/>
          <p:cNvPicPr>
            <a:picLocks noChangeAspect="1"/>
          </p:cNvPicPr>
          <p:nvPr/>
        </p:nvPicPr>
        <p:blipFill>
          <a:blip r:embed="rId6"/>
          <a:stretch>
            <a:fillRect/>
          </a:stretch>
        </p:blipFill>
        <p:spPr>
          <a:xfrm rot="21600000">
            <a:off x="3063095" y="8813526"/>
            <a:ext cx="838320" cy="892956"/>
          </a:xfrm>
          <a:prstGeom prst="rect">
            <a:avLst/>
          </a:prstGeom>
        </p:spPr>
      </p:pic>
      <p:sp>
        <p:nvSpPr>
          <p:cNvPr id="26" name="textbox 26"/>
          <p:cNvSpPr/>
          <p:nvPr/>
        </p:nvSpPr>
        <p:spPr>
          <a:xfrm>
            <a:off x="872490" y="5806440"/>
            <a:ext cx="1342390" cy="767715"/>
          </a:xfrm>
          <a:prstGeom prst="rect">
            <a:avLst/>
          </a:prstGeom>
          <a:noFill/>
          <a:ln w="0" cap="flat">
            <a:noFill/>
            <a:prstDash val="solid"/>
            <a:miter lim="0"/>
          </a:ln>
        </p:spPr>
        <p:txBody>
          <a:bodyPr vert="horz" wrap="square" lIns="0" tIns="0" rIns="0" bIns="0"/>
          <a:lstStyle/>
          <a:p>
            <a:pPr algn="ctr" rtl="0" eaLnBrk="0">
              <a:lnSpc>
                <a:spcPct val="100000"/>
              </a:lnSpc>
            </a:pPr>
            <a:r>
              <a:rPr sz="900" b="1" kern="0" spc="-20" dirty="0">
                <a:solidFill>
                  <a:srgbClr val="221815">
                    <a:alpha val="100000"/>
                  </a:srgbClr>
                </a:solidFill>
                <a:latin typeface="PingFang SC"/>
                <a:ea typeface="PingFang SC"/>
                <a:cs typeface="PingFang SC"/>
              </a:rPr>
              <a:t> Miniaturized design</a:t>
            </a:r>
            <a:endParaRPr sz="900" dirty="0">
              <a:latin typeface="PingFang SC"/>
              <a:ea typeface="PingFang SC"/>
              <a:cs typeface="PingFang SC"/>
            </a:endParaRPr>
          </a:p>
          <a:p>
            <a:pPr marL="12700" algn="ctr" rtl="0" eaLnBrk="0">
              <a:lnSpc>
                <a:spcPct val="100000"/>
              </a:lnSpc>
              <a:spcBef>
                <a:spcPts val="575"/>
              </a:spcBef>
            </a:pPr>
            <a:r>
              <a:rPr sz="900" kern="0" spc="-60" dirty="0">
                <a:solidFill>
                  <a:srgbClr val="221815">
                    <a:alpha val="100000"/>
                  </a:srgbClr>
                </a:solidFill>
                <a:latin typeface="Source Han Sans CN Medium"/>
                <a:ea typeface="Source Han Sans CN Medium"/>
                <a:cs typeface="Source Han Sans CN Medium"/>
              </a:rPr>
              <a:t> Extremely compressed product size, width</a:t>
            </a:r>
            <a:endParaRPr sz="900" dirty="0">
              <a:latin typeface="Source Han Sans CN Medium"/>
              <a:ea typeface="Source Han Sans CN Medium"/>
              <a:cs typeface="Source Han Sans CN Medium"/>
            </a:endParaRPr>
          </a:p>
          <a:p>
            <a:pPr algn="ctr" rtl="0" eaLnBrk="0">
              <a:lnSpc>
                <a:spcPct val="100000"/>
              </a:lnSpc>
            </a:pPr>
            <a:r>
              <a:rPr sz="1000" kern="0" spc="-20" dirty="0">
                <a:solidFill>
                  <a:srgbClr val="221815">
                    <a:alpha val="100000"/>
                  </a:srgbClr>
                </a:solidFill>
                <a:latin typeface="Source Han Sans CN Medium"/>
                <a:ea typeface="Source Han Sans CN Medium"/>
                <a:cs typeface="Source Han Sans CN Medium"/>
              </a:rPr>
              <a:t> only 1 meter in width</a:t>
            </a:r>
            <a:endParaRPr sz="1000" dirty="0">
              <a:latin typeface="Source Han Sans CN Medium"/>
              <a:ea typeface="Source Han Sans CN Medium"/>
              <a:cs typeface="Source Han Sans CN Medium"/>
            </a:endParaRPr>
          </a:p>
        </p:txBody>
      </p:sp>
      <p:sp>
        <p:nvSpPr>
          <p:cNvPr id="28" name="textbox 28"/>
          <p:cNvSpPr/>
          <p:nvPr/>
        </p:nvSpPr>
        <p:spPr>
          <a:xfrm>
            <a:off x="3155674" y="5805983"/>
            <a:ext cx="1297305" cy="562610"/>
          </a:xfrm>
          <a:prstGeom prst="rect">
            <a:avLst/>
          </a:prstGeom>
          <a:noFill/>
          <a:ln w="0" cap="flat">
            <a:noFill/>
            <a:prstDash val="solid"/>
            <a:miter lim="0"/>
          </a:ln>
        </p:spPr>
        <p:txBody>
          <a:bodyPr vert="horz" wrap="square" lIns="0" tIns="0" rIns="0" bIns="0"/>
          <a:lstStyle/>
          <a:p>
            <a:pPr algn="ctr" rtl="0" eaLnBrk="0">
              <a:lnSpc>
                <a:spcPct val="100000"/>
              </a:lnSpc>
            </a:pPr>
            <a:r>
              <a:rPr sz="800" b="1" kern="0" spc="-20" dirty="0">
                <a:solidFill>
                  <a:srgbClr val="221815">
                    <a:alpha val="100000"/>
                  </a:srgbClr>
                </a:solidFill>
                <a:latin typeface="PingFang SC"/>
                <a:ea typeface="PingFang SC"/>
                <a:cs typeface="PingFang SC"/>
              </a:rPr>
              <a:t> Extremely fast charging and switching</a:t>
            </a:r>
            <a:endParaRPr sz="800" dirty="0">
              <a:latin typeface="PingFang SC"/>
              <a:ea typeface="PingFang SC"/>
              <a:cs typeface="PingFang SC"/>
            </a:endParaRPr>
          </a:p>
          <a:p>
            <a:pPr algn="ctr" rtl="0" eaLnBrk="0">
              <a:lnSpc>
                <a:spcPct val="100000"/>
              </a:lnSpc>
            </a:pPr>
            <a:endParaRPr sz="800" dirty="0">
              <a:latin typeface="Arial" panose="020B0604020202020204"/>
              <a:ea typeface="Arial" panose="020B0604020202020204"/>
              <a:cs typeface="Arial" panose="020B0604020202020204"/>
            </a:endParaRPr>
          </a:p>
          <a:p>
            <a:pPr marL="45085" indent="-32385" algn="ctr" rtl="0" eaLnBrk="0">
              <a:lnSpc>
                <a:spcPct val="100000"/>
              </a:lnSpc>
            </a:pPr>
            <a:r>
              <a:rPr sz="800" kern="0" spc="-60" dirty="0">
                <a:solidFill>
                  <a:srgbClr val="221815">
                    <a:alpha val="100000"/>
                  </a:srgbClr>
                </a:solidFill>
                <a:latin typeface="Source Han Sans CN Medium"/>
                <a:ea typeface="Source Han Sans CN Medium"/>
                <a:cs typeface="Source Han Sans CN Medium"/>
              </a:rPr>
              <a:t>100 seconds </a:t>
            </a:r>
            <a:r>
              <a:rPr sz="800" kern="0" spc="-70" dirty="0">
                <a:solidFill>
                  <a:srgbClr val="221815">
                    <a:alpha val="100000"/>
                  </a:srgbClr>
                </a:solidFill>
                <a:latin typeface="Source Han Sans CN Medium"/>
                <a:ea typeface="Source Han Sans CN Medium"/>
                <a:cs typeface="Source Han Sans CN Medium"/>
              </a:rPr>
              <a:t>to</a:t>
            </a:r>
            <a:r>
              <a:rPr sz="800" kern="0" spc="-60" dirty="0">
                <a:solidFill>
                  <a:srgbClr val="221815">
                    <a:alpha val="100000"/>
                  </a:srgbClr>
                </a:solidFill>
                <a:latin typeface="Source Han Sans CN Medium"/>
                <a:ea typeface="Source Han Sans CN Medium"/>
                <a:cs typeface="Source Han Sans CN Medium"/>
              </a:rPr>
              <a:t> change the battery, </a:t>
            </a:r>
            <a:r>
              <a:rPr sz="800" kern="0" spc="-20" dirty="0">
                <a:solidFill>
                  <a:srgbClr val="221815">
                    <a:alpha val="100000"/>
                  </a:srgbClr>
                </a:solidFill>
                <a:latin typeface="Source Han Sans CN Medium"/>
                <a:ea typeface="Source Han Sans CN Medium"/>
                <a:cs typeface="Source Han Sans CN Medium"/>
              </a:rPr>
              <a:t>support </a:t>
            </a:r>
            <a:r>
              <a:rPr sz="800" kern="0" spc="-60" dirty="0">
                <a:solidFill>
                  <a:srgbClr val="221815">
                    <a:alpha val="100000"/>
                  </a:srgbClr>
                </a:solidFill>
                <a:latin typeface="Source Han Sans CN Medium"/>
                <a:ea typeface="Source Han Sans CN Medium"/>
                <a:cs typeface="Source Han Sans CN Medium"/>
              </a:rPr>
              <a:t>up to </a:t>
            </a:r>
            <a:r>
              <a:rPr sz="800" kern="0" spc="-20" dirty="0">
                <a:solidFill>
                  <a:srgbClr val="221815">
                    <a:alpha val="100000"/>
                  </a:srgbClr>
                </a:solidFill>
                <a:latin typeface="Source Han Sans CN Medium"/>
                <a:ea typeface="Source Han Sans CN Medium"/>
                <a:cs typeface="Source Han Sans CN Medium"/>
              </a:rPr>
              <a:t>8 batteries at the same time charging</a:t>
            </a:r>
            <a:endParaRPr sz="800" dirty="0">
              <a:latin typeface="Source Han Sans CN Medium"/>
              <a:ea typeface="Source Han Sans CN Medium"/>
              <a:cs typeface="Source Han Sans CN Medium"/>
            </a:endParaRPr>
          </a:p>
        </p:txBody>
      </p:sp>
      <p:pic>
        <p:nvPicPr>
          <p:cNvPr id="30" name="picture 30"/>
          <p:cNvPicPr>
            <a:picLocks noChangeAspect="1"/>
          </p:cNvPicPr>
          <p:nvPr/>
        </p:nvPicPr>
        <p:blipFill>
          <a:blip r:embed="rId7"/>
          <a:stretch>
            <a:fillRect/>
          </a:stretch>
        </p:blipFill>
        <p:spPr>
          <a:xfrm rot="21600000">
            <a:off x="5241559" y="8995810"/>
            <a:ext cx="897690" cy="648331"/>
          </a:xfrm>
          <a:prstGeom prst="rect">
            <a:avLst/>
          </a:prstGeom>
        </p:spPr>
      </p:pic>
      <p:sp>
        <p:nvSpPr>
          <p:cNvPr id="32" name="textbox 32"/>
          <p:cNvSpPr/>
          <p:nvPr/>
        </p:nvSpPr>
        <p:spPr>
          <a:xfrm>
            <a:off x="628015" y="8060690"/>
            <a:ext cx="4318635" cy="39751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6000"/>
              </a:lnSpc>
            </a:pPr>
            <a:r>
              <a:rPr sz="1400" b="1" kern="0" spc="-30" dirty="0">
                <a:solidFill>
                  <a:srgbClr val="221815">
                    <a:alpha val="100000"/>
                  </a:srgbClr>
                </a:solidFill>
                <a:latin typeface="PingFang SC"/>
                <a:ea typeface="PingFang SC"/>
                <a:cs typeface="PingFang SC"/>
              </a:rPr>
              <a:t> A large number of mounting free collocation</a:t>
            </a:r>
            <a:endParaRPr sz="1400" dirty="0">
              <a:latin typeface="PingFang SC"/>
              <a:ea typeface="PingFang SC"/>
              <a:cs typeface="PingFang SC"/>
            </a:endParaRPr>
          </a:p>
        </p:txBody>
      </p:sp>
      <p:sp>
        <p:nvSpPr>
          <p:cNvPr id="34" name="textbox 34"/>
          <p:cNvSpPr/>
          <p:nvPr/>
        </p:nvSpPr>
        <p:spPr>
          <a:xfrm>
            <a:off x="714375" y="4871720"/>
            <a:ext cx="2141220" cy="221615"/>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87000"/>
              </a:lnSpc>
            </a:pPr>
            <a:r>
              <a:rPr sz="1600" b="1" kern="0" spc="-30" dirty="0">
                <a:solidFill>
                  <a:srgbClr val="221815">
                    <a:alpha val="100000"/>
                  </a:srgbClr>
                </a:solidFill>
                <a:latin typeface="PingFang SC"/>
                <a:ea typeface="PingFang SC"/>
                <a:cs typeface="PingFang SC"/>
              </a:rPr>
              <a:t> Product Features</a:t>
            </a:r>
            <a:endParaRPr sz="1600" dirty="0">
              <a:latin typeface="PingFang SC"/>
              <a:ea typeface="PingFang SC"/>
              <a:cs typeface="PingFang SC"/>
            </a:endParaRPr>
          </a:p>
        </p:txBody>
      </p:sp>
      <p:pic>
        <p:nvPicPr>
          <p:cNvPr id="36" name="picture 36"/>
          <p:cNvPicPr>
            <a:picLocks noChangeAspect="1"/>
          </p:cNvPicPr>
          <p:nvPr/>
        </p:nvPicPr>
        <p:blipFill>
          <a:blip r:embed="rId8"/>
          <a:stretch>
            <a:fillRect/>
          </a:stretch>
        </p:blipFill>
        <p:spPr>
          <a:xfrm rot="21600000">
            <a:off x="3628161" y="5395315"/>
            <a:ext cx="334200" cy="331432"/>
          </a:xfrm>
          <a:prstGeom prst="rect">
            <a:avLst/>
          </a:prstGeom>
        </p:spPr>
      </p:pic>
      <p:pic>
        <p:nvPicPr>
          <p:cNvPr id="38" name="picture 38"/>
          <p:cNvPicPr>
            <a:picLocks noChangeAspect="1"/>
          </p:cNvPicPr>
          <p:nvPr/>
        </p:nvPicPr>
        <p:blipFill>
          <a:blip r:embed="rId9"/>
          <a:stretch>
            <a:fillRect/>
          </a:stretch>
        </p:blipFill>
        <p:spPr>
          <a:xfrm rot="21600000">
            <a:off x="2327503" y="6560756"/>
            <a:ext cx="326237" cy="325932"/>
          </a:xfrm>
          <a:prstGeom prst="rect">
            <a:avLst/>
          </a:prstGeom>
        </p:spPr>
      </p:pic>
      <p:pic>
        <p:nvPicPr>
          <p:cNvPr id="40" name="picture 40"/>
          <p:cNvPicPr>
            <a:picLocks noChangeAspect="1"/>
          </p:cNvPicPr>
          <p:nvPr/>
        </p:nvPicPr>
        <p:blipFill>
          <a:blip r:embed="rId10"/>
          <a:stretch>
            <a:fillRect/>
          </a:stretch>
        </p:blipFill>
        <p:spPr>
          <a:xfrm rot="21600000">
            <a:off x="4858207" y="6563297"/>
            <a:ext cx="323354" cy="323456"/>
          </a:xfrm>
          <a:prstGeom prst="rect">
            <a:avLst/>
          </a:prstGeom>
        </p:spPr>
      </p:pic>
      <p:pic>
        <p:nvPicPr>
          <p:cNvPr id="42" name="picture 42"/>
          <p:cNvPicPr>
            <a:picLocks noChangeAspect="1"/>
          </p:cNvPicPr>
          <p:nvPr/>
        </p:nvPicPr>
        <p:blipFill>
          <a:blip r:embed="rId11"/>
          <a:stretch>
            <a:fillRect/>
          </a:stretch>
        </p:blipFill>
        <p:spPr>
          <a:xfrm rot="21600000">
            <a:off x="5843257" y="5399011"/>
            <a:ext cx="320382" cy="319710"/>
          </a:xfrm>
          <a:prstGeom prst="rect">
            <a:avLst/>
          </a:prstGeom>
        </p:spPr>
      </p:pic>
      <p:pic>
        <p:nvPicPr>
          <p:cNvPr id="44" name="picture 44"/>
          <p:cNvPicPr>
            <a:picLocks noChangeAspect="1"/>
          </p:cNvPicPr>
          <p:nvPr/>
        </p:nvPicPr>
        <p:blipFill>
          <a:blip r:embed="rId12"/>
          <a:stretch>
            <a:fillRect/>
          </a:stretch>
        </p:blipFill>
        <p:spPr>
          <a:xfrm rot="21600000">
            <a:off x="1396009" y="5392902"/>
            <a:ext cx="285737" cy="329641"/>
          </a:xfrm>
          <a:prstGeom prst="rect">
            <a:avLst/>
          </a:prstGeom>
        </p:spPr>
      </p:pic>
      <p:pic>
        <p:nvPicPr>
          <p:cNvPr id="46" name="picture 46"/>
          <p:cNvPicPr>
            <a:picLocks noChangeAspect="1"/>
          </p:cNvPicPr>
          <p:nvPr/>
        </p:nvPicPr>
        <p:blipFill>
          <a:blip r:embed="rId13"/>
          <a:stretch>
            <a:fillRect/>
          </a:stretch>
        </p:blipFill>
        <p:spPr>
          <a:xfrm rot="21600000">
            <a:off x="710501" y="8281619"/>
            <a:ext cx="1683930" cy="32181"/>
          </a:xfrm>
          <a:prstGeom prst="rect">
            <a:avLst/>
          </a:prstGeom>
        </p:spPr>
      </p:pic>
      <p:pic>
        <p:nvPicPr>
          <p:cNvPr id="48" name="picture 48"/>
          <p:cNvPicPr>
            <a:picLocks noChangeAspect="1"/>
          </p:cNvPicPr>
          <p:nvPr/>
        </p:nvPicPr>
        <p:blipFill>
          <a:blip r:embed="rId14"/>
          <a:stretch>
            <a:fillRect/>
          </a:stretch>
        </p:blipFill>
        <p:spPr>
          <a:xfrm rot="21600000">
            <a:off x="531891" y="1806194"/>
            <a:ext cx="1682900" cy="32181"/>
          </a:xfrm>
          <a:prstGeom prst="rect">
            <a:avLst/>
          </a:prstGeom>
        </p:spPr>
      </p:pic>
      <p:pic>
        <p:nvPicPr>
          <p:cNvPr id="50" name="picture 50"/>
          <p:cNvPicPr>
            <a:picLocks noChangeAspect="1"/>
          </p:cNvPicPr>
          <p:nvPr/>
        </p:nvPicPr>
        <p:blipFill>
          <a:blip r:embed="rId15"/>
          <a:stretch>
            <a:fillRect/>
          </a:stretch>
        </p:blipFill>
        <p:spPr>
          <a:xfrm rot="21600000">
            <a:off x="712825" y="5160785"/>
            <a:ext cx="1682891" cy="321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2"/>
          <p:cNvPicPr>
            <a:picLocks noChangeAspect="1"/>
          </p:cNvPicPr>
          <p:nvPr/>
        </p:nvPicPr>
        <p:blipFill>
          <a:blip r:embed="rId1"/>
          <a:stretch>
            <a:fillRect/>
          </a:stretch>
        </p:blipFill>
        <p:spPr>
          <a:xfrm rot="21600000">
            <a:off x="0" y="0"/>
            <a:ext cx="7560005" cy="10692003"/>
          </a:xfrm>
          <a:prstGeom prst="rect">
            <a:avLst/>
          </a:prstGeom>
        </p:spPr>
      </p:pic>
      <p:pic>
        <p:nvPicPr>
          <p:cNvPr id="54" name="picture 54"/>
          <p:cNvPicPr>
            <a:picLocks noChangeAspect="1"/>
          </p:cNvPicPr>
          <p:nvPr/>
        </p:nvPicPr>
        <p:blipFill>
          <a:blip r:embed="rId2"/>
          <a:stretch>
            <a:fillRect/>
          </a:stretch>
        </p:blipFill>
        <p:spPr>
          <a:xfrm rot="21600000">
            <a:off x="726808" y="5016030"/>
            <a:ext cx="6075438" cy="2853130"/>
          </a:xfrm>
          <a:prstGeom prst="rect">
            <a:avLst/>
          </a:prstGeom>
        </p:spPr>
      </p:pic>
      <p:pic>
        <p:nvPicPr>
          <p:cNvPr id="56" name="picture 56"/>
          <p:cNvPicPr>
            <a:picLocks noChangeAspect="1"/>
          </p:cNvPicPr>
          <p:nvPr/>
        </p:nvPicPr>
        <p:blipFill>
          <a:blip r:embed="rId3"/>
          <a:stretch>
            <a:fillRect/>
          </a:stretch>
        </p:blipFill>
        <p:spPr>
          <a:xfrm rot="21600000">
            <a:off x="709032" y="1089111"/>
            <a:ext cx="6075433" cy="2853132"/>
          </a:xfrm>
          <a:prstGeom prst="rect">
            <a:avLst/>
          </a:prstGeom>
        </p:spPr>
      </p:pic>
      <p:sp>
        <p:nvSpPr>
          <p:cNvPr id="58" name="textbox 58"/>
          <p:cNvSpPr/>
          <p:nvPr/>
        </p:nvSpPr>
        <p:spPr>
          <a:xfrm>
            <a:off x="804545" y="8029575"/>
            <a:ext cx="6388100" cy="1746885"/>
          </a:xfrm>
          <a:prstGeom prst="rect">
            <a:avLst/>
          </a:prstGeom>
          <a:noFill/>
          <a:ln w="0" cap="flat">
            <a:noFill/>
            <a:prstDash val="solid"/>
            <a:miter lim="0"/>
          </a:ln>
        </p:spPr>
        <p:txBody>
          <a:bodyPr vert="horz" wrap="square" lIns="0" tIns="0" rIns="0" bIns="0"/>
          <a:lstStyle/>
          <a:p>
            <a:pPr algn="l" rtl="0" eaLnBrk="0">
              <a:lnSpc>
                <a:spcPct val="83000"/>
              </a:lnSpc>
            </a:pPr>
            <a:endParaRPr sz="900" dirty="0">
              <a:latin typeface="Arial" panose="020B0604020202020204"/>
              <a:ea typeface="Arial" panose="020B0604020202020204"/>
              <a:cs typeface="Arial" panose="020B0604020202020204"/>
            </a:endParaRPr>
          </a:p>
          <a:p>
            <a:pPr marL="93980" algn="l" rtl="0" eaLnBrk="0">
              <a:lnSpc>
                <a:spcPct val="89000"/>
              </a:lnSpc>
              <a:tabLst>
                <a:tab pos="179705" algn="l"/>
              </a:tabLst>
            </a:pPr>
            <a:r>
              <a:rPr sz="900" kern="0" spc="-70" dirty="0">
                <a:solidFill>
                  <a:srgbClr val="221815">
                    <a:alpha val="100000"/>
                  </a:srgbClr>
                </a:solidFill>
                <a:latin typeface="Source Han Sans CN Medium"/>
                <a:ea typeface="Source Han Sans CN Medium"/>
                <a:cs typeface="Source Han Sans CN Medium"/>
              </a:rPr>
              <a:t>Support situational awareness, in the form of charts and graphs, easy for leaders to command, decision-making</a:t>
            </a:r>
            <a:endParaRPr sz="900" dirty="0">
              <a:latin typeface="Source Han Sans CN Medium"/>
              <a:ea typeface="Source Han Sans CN Medium"/>
              <a:cs typeface="Source Han Sans CN Medium"/>
            </a:endParaRPr>
          </a:p>
          <a:p>
            <a:pPr marL="93980" algn="l" rtl="0" eaLnBrk="0">
              <a:lnSpc>
                <a:spcPct val="89000"/>
              </a:lnSpc>
              <a:spcBef>
                <a:spcPts val="790"/>
              </a:spcBef>
              <a:tabLst>
                <a:tab pos="179705" algn="l"/>
              </a:tabLst>
            </a:pPr>
            <a:r>
              <a:rPr sz="900" kern="0" spc="-40" dirty="0">
                <a:solidFill>
                  <a:srgbClr val="221815">
                    <a:alpha val="100000"/>
                  </a:srgbClr>
                </a:solidFill>
                <a:latin typeface="Source Han Sans CN Medium"/>
                <a:ea typeface="Source Han Sans CN Medium"/>
                <a:cs typeface="Source Han Sans CN Medium"/>
              </a:rPr>
              <a:t> Support multi-device cluster scheduling, one screen to grasp the regional situation.</a:t>
            </a:r>
            <a:endParaRPr sz="900" dirty="0">
              <a:latin typeface="Source Han Sans CN Medium"/>
              <a:ea typeface="Source Han Sans CN Medium"/>
              <a:cs typeface="Source Han Sans CN Medium"/>
            </a:endParaRPr>
          </a:p>
          <a:p>
            <a:pPr marL="93980" algn="l" rtl="0" eaLnBrk="0">
              <a:lnSpc>
                <a:spcPct val="89000"/>
              </a:lnSpc>
              <a:spcBef>
                <a:spcPts val="790"/>
              </a:spcBef>
              <a:tabLst>
                <a:tab pos="179705" algn="l"/>
              </a:tabLst>
            </a:pPr>
            <a:r>
              <a:rPr sz="900" kern="0" spc="-60" dirty="0">
                <a:solidFill>
                  <a:srgbClr val="221815">
                    <a:alpha val="100000"/>
                  </a:srgbClr>
                </a:solidFill>
                <a:latin typeface="Source Han Sans CN Medium"/>
                <a:ea typeface="Source Han Sans CN Medium"/>
                <a:cs typeface="Source Han Sans CN Medium"/>
              </a:rPr>
              <a:t> Supports viewing demand details, event feedback, flight results and other information.</a:t>
            </a:r>
            <a:endParaRPr sz="900" dirty="0">
              <a:latin typeface="Source Han Sans CN Medium"/>
              <a:ea typeface="Source Han Sans CN Medium"/>
              <a:cs typeface="Source Han Sans CN Medium"/>
            </a:endParaRPr>
          </a:p>
          <a:p>
            <a:pPr marL="93980" algn="l" rtl="0" eaLnBrk="0">
              <a:lnSpc>
                <a:spcPct val="89000"/>
              </a:lnSpc>
              <a:spcBef>
                <a:spcPts val="785"/>
              </a:spcBef>
              <a:tabLst>
                <a:tab pos="179705" algn="l"/>
              </a:tabLst>
            </a:pPr>
            <a:r>
              <a:rPr sz="900" kern="0" spc="-50" dirty="0">
                <a:solidFill>
                  <a:srgbClr val="221815">
                    <a:alpha val="100000"/>
                  </a:srgbClr>
                </a:solidFill>
                <a:latin typeface="Source Han Sans CN Medium"/>
                <a:ea typeface="Source Han Sans CN Medium"/>
                <a:cs typeface="Source Han Sans CN Medium"/>
              </a:rPr>
              <a:t> Supports remote tasking, pointing flights, timed/periodic/instant flights.</a:t>
            </a:r>
            <a:endParaRPr sz="900" dirty="0">
              <a:latin typeface="Source Han Sans CN Medium"/>
              <a:ea typeface="Source Han Sans CN Medium"/>
              <a:cs typeface="Source Han Sans CN Medium"/>
            </a:endParaRPr>
          </a:p>
          <a:p>
            <a:pPr marL="93980" algn="l" rtl="0" eaLnBrk="0">
              <a:lnSpc>
                <a:spcPct val="89000"/>
              </a:lnSpc>
              <a:spcBef>
                <a:spcPts val="790"/>
              </a:spcBef>
              <a:tabLst>
                <a:tab pos="179705" algn="l"/>
              </a:tabLst>
            </a:pPr>
            <a:r>
              <a:rPr sz="900" kern="0" spc="-30" dirty="0">
                <a:solidFill>
                  <a:srgbClr val="221815">
                    <a:alpha val="100000"/>
                  </a:srgbClr>
                </a:solidFill>
                <a:latin typeface="Source Han Sans CN Medium"/>
                <a:ea typeface="Source Han Sans CN Medium"/>
                <a:cs typeface="Source Han Sans CN Medium"/>
              </a:rPr>
              <a:t> Support taking over the drone manually by keyboard/joystick, etc., and remotely controlling loads such as yellers.</a:t>
            </a:r>
            <a:endParaRPr sz="900" dirty="0">
              <a:latin typeface="Source Han Sans CN Medium"/>
              <a:ea typeface="Source Han Sans CN Medium"/>
              <a:cs typeface="Source Han Sans CN Medium"/>
            </a:endParaRPr>
          </a:p>
          <a:p>
            <a:pPr marL="93980" algn="l" rtl="0" eaLnBrk="0">
              <a:lnSpc>
                <a:spcPct val="89000"/>
              </a:lnSpc>
              <a:spcBef>
                <a:spcPts val="795"/>
              </a:spcBef>
              <a:tabLst>
                <a:tab pos="179705" algn="l"/>
              </a:tabLst>
            </a:pPr>
            <a:r>
              <a:rPr sz="900" kern="0" spc="-30" dirty="0">
                <a:solidFill>
                  <a:srgbClr val="221815">
                    <a:alpha val="100000"/>
                  </a:srgbClr>
                </a:solidFill>
                <a:latin typeface="Source Han Sans CN Medium"/>
                <a:ea typeface="Source Han Sans CN Medium"/>
                <a:cs typeface="Source Han Sans CN Medium"/>
              </a:rPr>
              <a:t> Support digital twin display, online collection or one-key import orthophoto and other files</a:t>
            </a:r>
            <a:r>
              <a:rPr sz="900" kern="0" spc="-40" dirty="0">
                <a:solidFill>
                  <a:srgbClr val="221815">
                    <a:alpha val="100000"/>
                  </a:srgbClr>
                </a:solidFill>
                <a:latin typeface="Source Han Sans CN Medium"/>
                <a:ea typeface="Source Han Sans CN Medium"/>
                <a:cs typeface="Source Han Sans CN Medium"/>
              </a:rPr>
              <a:t>, through the three-dimensional scene to assist route development and task monitoring.</a:t>
            </a:r>
            <a:endParaRPr sz="900" dirty="0">
              <a:latin typeface="Source Han Sans CN Medium"/>
              <a:ea typeface="Source Han Sans CN Medium"/>
              <a:cs typeface="Source Han Sans CN Medium"/>
            </a:endParaRPr>
          </a:p>
          <a:p>
            <a:pPr algn="l" rtl="0" eaLnBrk="0">
              <a:lnSpc>
                <a:spcPct val="104000"/>
              </a:lnSpc>
            </a:pPr>
            <a:r>
              <a:rPr lang="en-US" sz="900" kern="0" spc="-60" dirty="0">
                <a:solidFill>
                  <a:srgbClr val="221815">
                    <a:alpha val="100000"/>
                  </a:srgbClr>
                </a:solidFill>
                <a:latin typeface="Source Han Sans CN Medium"/>
                <a:ea typeface="Source Han Sans CN Medium"/>
                <a:cs typeface="Source Han Sans CN Medium"/>
              </a:rPr>
              <a:t>  </a:t>
            </a:r>
            <a:r>
              <a:rPr sz="900" kern="0" spc="-60" dirty="0">
                <a:solidFill>
                  <a:srgbClr val="221815">
                    <a:alpha val="100000"/>
                  </a:srgbClr>
                </a:solidFill>
                <a:latin typeface="Source Han Sans CN Medium"/>
                <a:ea typeface="Source Han Sans CN Medium"/>
                <a:cs typeface="Source Han Sans CN Medium"/>
              </a:rPr>
              <a:t> Supporting the AI visual model and industry model based on the drone autonomous inspection aviation platform, providing </a:t>
            </a:r>
            <a:r>
              <a:rPr sz="900" kern="0" spc="-40" dirty="0">
                <a:solidFill>
                  <a:srgbClr val="221815">
                    <a:alpha val="100000"/>
                  </a:srgbClr>
                </a:solidFill>
                <a:latin typeface="Source Han Sans CN Medium"/>
                <a:ea typeface="Source Han Sans CN Medium"/>
                <a:cs typeface="Source Han Sans CN Medium"/>
              </a:rPr>
              <a:t>AI visual inspection services </a:t>
            </a:r>
            <a:r>
              <a:rPr sz="900" kern="0" spc="-60" dirty="0">
                <a:solidFill>
                  <a:srgbClr val="221815">
                    <a:alpha val="100000"/>
                  </a:srgbClr>
                </a:solidFill>
                <a:latin typeface="Source Han Sans CN Medium"/>
                <a:ea typeface="Source Han Sans CN Medium"/>
                <a:cs typeface="Source Han Sans CN Medium"/>
              </a:rPr>
              <a:t>covering equipment and facilities, people</a:t>
            </a:r>
            <a:r>
              <a:rPr sz="900" kern="0" spc="-70" dirty="0">
                <a:solidFill>
                  <a:srgbClr val="221815">
                    <a:alpha val="100000"/>
                  </a:srgbClr>
                </a:solidFill>
                <a:latin typeface="Source Han Sans CN Medium"/>
                <a:ea typeface="Source Han Sans CN Medium"/>
                <a:cs typeface="Source Han Sans CN Medium"/>
              </a:rPr>
              <a:t>, roads, vehicles, fires, </a:t>
            </a:r>
            <a:r>
              <a:rPr sz="900" kern="0" spc="-30" dirty="0">
                <a:solidFill>
                  <a:srgbClr val="221815">
                    <a:alpha val="100000"/>
                  </a:srgbClr>
                </a:solidFill>
                <a:latin typeface="Source Han Sans CN Medium"/>
                <a:ea typeface="Source Han Sans CN Medium"/>
                <a:cs typeface="Source Han Sans CN Medium"/>
              </a:rPr>
              <a:t>ships, and many other aspects </a:t>
            </a:r>
            <a:r>
              <a:rPr sz="900" kern="0" spc="-40" dirty="0">
                <a:solidFill>
                  <a:srgbClr val="221815">
                    <a:alpha val="100000"/>
                  </a:srgbClr>
                </a:solidFill>
                <a:latin typeface="Source Han Sans CN Medium"/>
                <a:ea typeface="Source Han Sans CN Medium"/>
                <a:cs typeface="Source Han Sans CN Medium"/>
              </a:rPr>
              <a:t>of </a:t>
            </a:r>
            <a:r>
              <a:rPr sz="900" kern="0" spc="-30" dirty="0">
                <a:solidFill>
                  <a:srgbClr val="221815">
                    <a:alpha val="100000"/>
                  </a:srgbClr>
                </a:solidFill>
                <a:latin typeface="Source Han Sans CN Medium"/>
                <a:ea typeface="Source Han Sans CN Medium"/>
                <a:cs typeface="Source Han Sans CN Medium"/>
              </a:rPr>
              <a:t>safety protection and standardized management.</a:t>
            </a:r>
            <a:endParaRPr sz="900" dirty="0">
              <a:latin typeface="Source Han Sans CN Medium"/>
              <a:ea typeface="Source Han Sans CN Medium"/>
              <a:cs typeface="Source Han Sans CN Medium"/>
            </a:endParaRPr>
          </a:p>
        </p:txBody>
      </p:sp>
      <p:pic>
        <p:nvPicPr>
          <p:cNvPr id="60" name="picture 60"/>
          <p:cNvPicPr>
            <a:picLocks noChangeAspect="1"/>
          </p:cNvPicPr>
          <p:nvPr/>
        </p:nvPicPr>
        <p:blipFill>
          <a:blip r:embed="rId4"/>
          <a:stretch>
            <a:fillRect/>
          </a:stretch>
        </p:blipFill>
        <p:spPr>
          <a:xfrm rot="21600000">
            <a:off x="817321" y="9568294"/>
            <a:ext cx="81648" cy="81648"/>
          </a:xfrm>
          <a:prstGeom prst="rect">
            <a:avLst/>
          </a:prstGeom>
        </p:spPr>
      </p:pic>
      <p:pic>
        <p:nvPicPr>
          <p:cNvPr id="62" name="picture 62"/>
          <p:cNvPicPr>
            <a:picLocks noChangeAspect="1"/>
          </p:cNvPicPr>
          <p:nvPr/>
        </p:nvPicPr>
        <p:blipFill>
          <a:blip r:embed="rId5"/>
          <a:stretch>
            <a:fillRect/>
          </a:stretch>
        </p:blipFill>
        <p:spPr>
          <a:xfrm rot="21600000">
            <a:off x="817321" y="9328912"/>
            <a:ext cx="81648" cy="81635"/>
          </a:xfrm>
          <a:prstGeom prst="rect">
            <a:avLst/>
          </a:prstGeom>
        </p:spPr>
      </p:pic>
      <p:pic>
        <p:nvPicPr>
          <p:cNvPr id="64" name="picture 64"/>
          <p:cNvPicPr>
            <a:picLocks noChangeAspect="1"/>
          </p:cNvPicPr>
          <p:nvPr/>
        </p:nvPicPr>
        <p:blipFill>
          <a:blip r:embed="rId6"/>
          <a:stretch>
            <a:fillRect/>
          </a:stretch>
        </p:blipFill>
        <p:spPr>
          <a:xfrm rot="21600000">
            <a:off x="817321" y="9099969"/>
            <a:ext cx="81648" cy="81635"/>
          </a:xfrm>
          <a:prstGeom prst="rect">
            <a:avLst/>
          </a:prstGeom>
        </p:spPr>
      </p:pic>
      <p:pic>
        <p:nvPicPr>
          <p:cNvPr id="66" name="picture 66"/>
          <p:cNvPicPr>
            <a:picLocks noChangeAspect="1"/>
          </p:cNvPicPr>
          <p:nvPr/>
        </p:nvPicPr>
        <p:blipFill>
          <a:blip r:embed="rId7"/>
          <a:stretch>
            <a:fillRect/>
          </a:stretch>
        </p:blipFill>
        <p:spPr>
          <a:xfrm rot="21600000">
            <a:off x="817321" y="8862123"/>
            <a:ext cx="81648" cy="81635"/>
          </a:xfrm>
          <a:prstGeom prst="rect">
            <a:avLst/>
          </a:prstGeom>
        </p:spPr>
      </p:pic>
      <p:pic>
        <p:nvPicPr>
          <p:cNvPr id="68" name="picture 68"/>
          <p:cNvPicPr>
            <a:picLocks noChangeAspect="1"/>
          </p:cNvPicPr>
          <p:nvPr/>
        </p:nvPicPr>
        <p:blipFill>
          <a:blip r:embed="rId8"/>
          <a:stretch>
            <a:fillRect/>
          </a:stretch>
        </p:blipFill>
        <p:spPr>
          <a:xfrm rot="21600000">
            <a:off x="817321" y="8624266"/>
            <a:ext cx="81648" cy="81635"/>
          </a:xfrm>
          <a:prstGeom prst="rect">
            <a:avLst/>
          </a:prstGeom>
        </p:spPr>
      </p:pic>
      <p:pic>
        <p:nvPicPr>
          <p:cNvPr id="70" name="picture 70"/>
          <p:cNvPicPr>
            <a:picLocks noChangeAspect="1"/>
          </p:cNvPicPr>
          <p:nvPr/>
        </p:nvPicPr>
        <p:blipFill>
          <a:blip r:embed="rId9"/>
          <a:stretch>
            <a:fillRect/>
          </a:stretch>
        </p:blipFill>
        <p:spPr>
          <a:xfrm rot="21600000">
            <a:off x="817321" y="8391830"/>
            <a:ext cx="81648" cy="81648"/>
          </a:xfrm>
          <a:prstGeom prst="rect">
            <a:avLst/>
          </a:prstGeom>
        </p:spPr>
      </p:pic>
      <p:pic>
        <p:nvPicPr>
          <p:cNvPr id="72" name="picture 72"/>
          <p:cNvPicPr>
            <a:picLocks noChangeAspect="1"/>
          </p:cNvPicPr>
          <p:nvPr/>
        </p:nvPicPr>
        <p:blipFill>
          <a:blip r:embed="rId10"/>
          <a:stretch>
            <a:fillRect/>
          </a:stretch>
        </p:blipFill>
        <p:spPr>
          <a:xfrm rot="21600000">
            <a:off x="817321" y="8158341"/>
            <a:ext cx="81648" cy="81648"/>
          </a:xfrm>
          <a:prstGeom prst="rect">
            <a:avLst/>
          </a:prstGeom>
        </p:spPr>
      </p:pic>
      <p:sp>
        <p:nvSpPr>
          <p:cNvPr id="74" name="textbox 74"/>
          <p:cNvSpPr/>
          <p:nvPr/>
        </p:nvSpPr>
        <p:spPr>
          <a:xfrm>
            <a:off x="703341" y="3959050"/>
            <a:ext cx="6098540" cy="643890"/>
          </a:xfrm>
          <a:prstGeom prst="rect">
            <a:avLst/>
          </a:prstGeom>
          <a:noFill/>
          <a:ln w="0" cap="flat">
            <a:noFill/>
            <a:prstDash val="solid"/>
            <a:miter lim="0"/>
          </a:ln>
        </p:spPr>
        <p:txBody>
          <a:bodyPr vert="horz" wrap="square" lIns="0" tIns="0" rIns="0" bIns="0"/>
          <a:lstStyle/>
          <a:p>
            <a:pPr algn="l" rtl="0" eaLnBrk="0">
              <a:lnSpc>
                <a:spcPct val="100000"/>
              </a:lnSpc>
            </a:pPr>
            <a:endParaRPr sz="700" dirty="0">
              <a:latin typeface="Arial" panose="020B0604020202020204"/>
              <a:ea typeface="Arial" panose="020B0604020202020204"/>
              <a:cs typeface="Arial" panose="020B0604020202020204"/>
            </a:endParaRPr>
          </a:p>
          <a:p>
            <a:pPr algn="l" rtl="0" eaLnBrk="0">
              <a:lnSpc>
                <a:spcPct val="100000"/>
              </a:lnSpc>
            </a:pPr>
            <a:r>
              <a:rPr sz="700" kern="0" spc="-40" dirty="0">
                <a:solidFill>
                  <a:srgbClr val="221815">
                    <a:alpha val="100000"/>
                  </a:srgbClr>
                </a:solidFill>
                <a:latin typeface="Source Han Sans CN Medium"/>
                <a:ea typeface="Source Han Sans CN Medium"/>
                <a:cs typeface="Source Han Sans CN Medium"/>
              </a:rPr>
              <a:t> Integrating automatic airports, drones, pods and other flight resources, the full-stack selfdeveloped low-altitude drone autonomous inspection platform aims to promote the development of low-altitude economy and comprehensively meet the needs of different layers.</a:t>
            </a:r>
            <a:endParaRPr sz="700" dirty="0">
              <a:latin typeface="Source Han Sans CN Medium"/>
              <a:ea typeface="Source Han Sans CN Medium"/>
              <a:cs typeface="Source Han Sans CN Medium"/>
            </a:endParaRPr>
          </a:p>
          <a:p>
            <a:pPr marL="12700" algn="l" rtl="0" eaLnBrk="0">
              <a:lnSpc>
                <a:spcPct val="100000"/>
              </a:lnSpc>
              <a:spcBef>
                <a:spcPts val="725"/>
              </a:spcBef>
            </a:pPr>
            <a:r>
              <a:rPr sz="700" kern="0" spc="-60" dirty="0">
                <a:solidFill>
                  <a:srgbClr val="221815">
                    <a:alpha val="100000"/>
                  </a:srgbClr>
                </a:solidFill>
                <a:latin typeface="Source Han Sans CN Medium"/>
                <a:ea typeface="Source Han Sans CN Medium"/>
                <a:cs typeface="Source Han Sans CN Medium"/>
              </a:rPr>
              <a:t> economic development, and comprehensively meet the actual needs of users at different levels. Combined with AI intelligent algorithms, it realizes intelligent applications in various industries, providing services for gas, electricity, transportation, forestry, public security, and other industries.</a:t>
            </a:r>
            <a:endParaRPr sz="700" dirty="0">
              <a:latin typeface="Source Han Sans CN Medium"/>
              <a:ea typeface="Source Han Sans CN Medium"/>
              <a:cs typeface="Source Han Sans CN Medium"/>
            </a:endParaRPr>
          </a:p>
          <a:p>
            <a:pPr algn="l" rtl="0" eaLnBrk="0">
              <a:lnSpc>
                <a:spcPct val="100000"/>
              </a:lnSpc>
            </a:pPr>
            <a:endParaRPr sz="700" dirty="0">
              <a:latin typeface="Arial" panose="020B0604020202020204"/>
              <a:ea typeface="Arial" panose="020B0604020202020204"/>
              <a:cs typeface="Arial" panose="020B0604020202020204"/>
            </a:endParaRPr>
          </a:p>
          <a:p>
            <a:pPr marL="15240" algn="l" rtl="0" eaLnBrk="0">
              <a:lnSpc>
                <a:spcPct val="100000"/>
              </a:lnSpc>
            </a:pPr>
            <a:r>
              <a:rPr sz="700" kern="0" spc="-10" dirty="0">
                <a:solidFill>
                  <a:srgbClr val="221815">
                    <a:alpha val="100000"/>
                  </a:srgbClr>
                </a:solidFill>
                <a:latin typeface="Source Han Sans CN Medium"/>
                <a:ea typeface="Source Han Sans CN Medium"/>
                <a:cs typeface="Source Han Sans CN Medium"/>
              </a:rPr>
              <a:t> power, transportation, forestry, public security, urban management, emergency response and other multi-industry applications and customized support.</a:t>
            </a:r>
            <a:endParaRPr sz="700" dirty="0">
              <a:latin typeface="Source Han Sans CN Medium"/>
              <a:ea typeface="Source Han Sans CN Medium"/>
              <a:cs typeface="Source Han Sans CN Medium"/>
            </a:endParaRPr>
          </a:p>
        </p:txBody>
      </p:sp>
      <p:sp>
        <p:nvSpPr>
          <p:cNvPr id="76" name="textbox 76"/>
          <p:cNvSpPr/>
          <p:nvPr/>
        </p:nvSpPr>
        <p:spPr>
          <a:xfrm>
            <a:off x="709295" y="694055"/>
            <a:ext cx="4990465" cy="37084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86000"/>
              </a:lnSpc>
            </a:pPr>
            <a:r>
              <a:rPr sz="1600" b="1" kern="0" spc="-20" dirty="0">
                <a:solidFill>
                  <a:srgbClr val="221815">
                    <a:alpha val="100000"/>
                  </a:srgbClr>
                </a:solidFill>
                <a:latin typeface="PingFang SC"/>
                <a:ea typeface="PingFang SC"/>
                <a:cs typeface="PingFang SC"/>
              </a:rPr>
              <a:t> Drone Autonomous Inspection Platform</a:t>
            </a:r>
            <a:endParaRPr sz="1600" dirty="0">
              <a:latin typeface="PingFang SC"/>
              <a:ea typeface="PingFang SC"/>
              <a:cs typeface="PingFang SC"/>
            </a:endParaRPr>
          </a:p>
        </p:txBody>
      </p:sp>
      <p:pic>
        <p:nvPicPr>
          <p:cNvPr id="78" name="picture 78"/>
          <p:cNvPicPr>
            <a:picLocks noChangeAspect="1"/>
          </p:cNvPicPr>
          <p:nvPr/>
        </p:nvPicPr>
        <p:blipFill>
          <a:blip r:embed="rId11"/>
          <a:stretch>
            <a:fillRect/>
          </a:stretch>
        </p:blipFill>
        <p:spPr>
          <a:xfrm rot="21600000">
            <a:off x="709041" y="1039876"/>
            <a:ext cx="1683942" cy="321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3440</Words>
  <Application>WPS Presentation</Application>
  <PresentationFormat/>
  <Paragraphs>104</Paragraphs>
  <Slides>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vt:i4>
      </vt:variant>
    </vt:vector>
  </HeadingPairs>
  <TitlesOfParts>
    <vt:vector size="14" baseType="lpstr">
      <vt:lpstr>Arial</vt:lpstr>
      <vt:lpstr>SimSun</vt:lpstr>
      <vt:lpstr>Wingdings</vt:lpstr>
      <vt:lpstr>Arial</vt:lpstr>
      <vt:lpstr>Source Han Sans CN Medium</vt:lpstr>
      <vt:lpstr>Segoe Print</vt:lpstr>
      <vt:lpstr>YouSheBiaoTiHei</vt:lpstr>
      <vt:lpstr>PingFang SC</vt:lpstr>
      <vt:lpstr>Microsoft YaHei</vt:lpstr>
      <vt:lpstr>Arial Unicode MS</vt:lpstr>
      <vt:lpstr>Calibri</vt:lpstr>
      <vt:lpstr>Office theme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无人机自主巡视系统</dc:title>
  <dc:creator/>
  <cp:keywords>, docId:243D069F2FC4A4A8EC5C745180BE00D4</cp:keywords>
  <cp:lastModifiedBy>WPS_1744180861</cp:lastModifiedBy>
  <cp:revision>2</cp:revision>
  <dcterms:created xsi:type="dcterms:W3CDTF">2025-07-22T01:33:03Z</dcterms:created>
  <dcterms:modified xsi:type="dcterms:W3CDTF">2025-07-22T01:33:42Z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wqlLaW5nc29mdCBQREYgdG8gV1BTIDExMA</vt:lpwstr>
  </property>
  <property fmtid="{D5CDD505-2E9C-101B-9397-08002B2CF9AE}" pid="3" name="Created">
    <vt:filetime>2025-07-22T08:48:06Z</vt:filetime>
  </property>
  <property fmtid="{D5CDD505-2E9C-101B-9397-08002B2CF9AE}" pid="4" name="ICV">
    <vt:lpwstr>022C20502A4B403E85C1C441BA3B2734_12</vt:lpwstr>
  </property>
  <property fmtid="{D5CDD505-2E9C-101B-9397-08002B2CF9AE}" pid="5" name="KSOProductBuildVer">
    <vt:lpwstr>2057-12.2.0.21931</vt:lpwstr>
  </property>
</Properties>
</file>