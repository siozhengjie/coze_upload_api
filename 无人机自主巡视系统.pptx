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60005" cy="1069200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viewProps" Target="viewProps.xml"/><Relationship Id="rId5" Type="http://schemas.openxmlformats.org/officeDocument/2006/relationships/tableStyles" Target="tableStyles.xml"/><Relationship Id="rId4" Type="http://schemas.openxmlformats.org/officeDocument/2006/relationships/presProps" Target="presProps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10692003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08967" y="8495599"/>
          <a:ext cx="6206489" cy="1597660"/>
        </p:xfrm>
        <a:graphic>
          <a:graphicData uri="http://schemas.openxmlformats.org/drawingml/2006/table">
            <a:tbl>
              <a:tblPr/>
              <a:tblGrid>
                <a:gridCol w="1246505"/>
                <a:gridCol w="1003935"/>
                <a:gridCol w="1043305"/>
                <a:gridCol w="1136650"/>
                <a:gridCol w="1146175"/>
                <a:gridCol w="629920"/>
              </a:tblGrid>
              <a:tr h="15976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2135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-40" dirty="0">
                          <a:solidFill>
                            <a:srgbClr val="221815">
                              <a:alpha val="100000"/>
                            </a:srgbClr>
                          </a:solidFill>
                          <a:latin typeface="Source Han Sans CN Medium"/>
                          <a:ea typeface="Source Han Sans CN Medium"/>
                          <a:cs typeface="Source Han Sans CN Medium"/>
                        </a:rPr>
                        <a:t>H30</a:t>
                      </a:r>
                      <a:endParaRPr sz="1000" dirty="0">
                        <a:latin typeface="Source Han Sans CN Medium"/>
                        <a:ea typeface="Source Han Sans CN Medium"/>
                        <a:cs typeface="Source Han Sans CN Medium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855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-40" dirty="0">
                          <a:solidFill>
                            <a:srgbClr val="221815">
                              <a:alpha val="100000"/>
                            </a:srgbClr>
                          </a:solidFill>
                          <a:latin typeface="Source Han Sans CN Medium"/>
                          <a:ea typeface="Source Han Sans CN Medium"/>
                          <a:cs typeface="Source Han Sans CN Medium"/>
                        </a:rPr>
                        <a:t>H20</a:t>
                      </a:r>
                      <a:endParaRPr sz="1000" dirty="0">
                        <a:latin typeface="Source Han Sans CN Medium"/>
                        <a:ea typeface="Source Han Sans CN Medium"/>
                        <a:cs typeface="Source Han Sans CN Medium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000" kern="0" spc="-30" dirty="0">
                          <a:solidFill>
                            <a:srgbClr val="221815">
                              <a:alpha val="100000"/>
                            </a:srgbClr>
                          </a:solidFill>
                          <a:latin typeface="Source Han Sans CN Medium"/>
                          <a:ea typeface="Source Han Sans CN Medium"/>
                          <a:cs typeface="Source Han Sans CN Medium"/>
                        </a:rPr>
                        <a:t>喊话器</a:t>
                      </a:r>
                      <a:endParaRPr sz="1000" dirty="0">
                        <a:latin typeface="Source Han Sans CN Medium"/>
                        <a:ea typeface="Source Han Sans CN Medium"/>
                        <a:cs typeface="Source Han Sans CN Medium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3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221815">
                              <a:alpha val="100000"/>
                            </a:srgbClr>
                          </a:solidFill>
                          <a:latin typeface="Source Han Sans CN Medium"/>
                          <a:ea typeface="Source Han Sans CN Medium"/>
                          <a:cs typeface="Source Han Sans CN Medium"/>
                        </a:rPr>
                        <a:t>甲烷遥测仪</a:t>
                      </a:r>
                      <a:endParaRPr sz="1000" dirty="0">
                        <a:latin typeface="Source Han Sans CN Medium"/>
                        <a:ea typeface="Source Han Sans CN Medium"/>
                        <a:cs typeface="Source Han Sans CN Medium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000" kern="0" spc="-20" dirty="0">
                          <a:solidFill>
                            <a:srgbClr val="221815">
                              <a:alpha val="100000"/>
                            </a:srgbClr>
                          </a:solidFill>
                          <a:latin typeface="Source Han Sans CN Medium"/>
                          <a:ea typeface="Source Han Sans CN Medium"/>
                          <a:cs typeface="Source Han Sans CN Medium"/>
                        </a:rPr>
                        <a:t>气体检测仪</a:t>
                      </a:r>
                      <a:endParaRPr sz="1000" dirty="0">
                        <a:latin typeface="Source Han Sans CN Medium"/>
                        <a:ea typeface="Source Han Sans CN Medium"/>
                        <a:cs typeface="Source Han Sans CN Medium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85" algn="l" rtl="0" eaLnBrk="0">
                        <a:lnSpc>
                          <a:spcPts val="291"/>
                        </a:lnSpc>
                        <a:tabLst/>
                      </a:pPr>
                      <a:r>
                        <a:rPr sz="1300" kern="0" spc="-30" dirty="0">
                          <a:solidFill>
                            <a:srgbClr val="221815">
                              <a:alpha val="100000"/>
                            </a:srgbClr>
                          </a:solidFill>
                          <a:latin typeface="Source Han Sans CN Medium"/>
                          <a:ea typeface="Source Han Sans CN Medium"/>
                          <a:cs typeface="Source Han Sans CN Medium"/>
                        </a:rPr>
                        <a:t>......</a:t>
                      </a:r>
                      <a:endParaRPr sz="1300" dirty="0">
                        <a:latin typeface="Source Han Sans CN Medium"/>
                        <a:ea typeface="Source Han Sans CN Medium"/>
                        <a:cs typeface="Source Han Sans CN Medium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37938" y="2330288"/>
            <a:ext cx="3442143" cy="2088373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728846" y="2049467"/>
            <a:ext cx="2667000" cy="2591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6705" algn="l" rtl="0" eaLnBrk="0">
              <a:lnSpc>
                <a:spcPct val="79000"/>
              </a:lnSpc>
              <a:tabLst/>
            </a:pPr>
            <a:r>
              <a:rPr sz="1100" kern="0" spc="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无人机自动机场集成了先进的自动化</a:t>
            </a:r>
            <a:endParaRPr sz="11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12700" indent="1270" algn="l" rtl="0" eaLnBrk="0">
              <a:lnSpc>
                <a:spcPct val="145000"/>
              </a:lnSpc>
              <a:spcBef>
                <a:spcPts val="25"/>
              </a:spcBef>
              <a:tabLst/>
            </a:pP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技术、无人机管理系统以及安全防护</a:t>
            </a:r>
            <a:r>
              <a:rPr sz="11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机制， </a:t>
            </a:r>
            <a:r>
              <a:rPr sz="1100" kern="0" spc="-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旨在为无人机提供安全、便捷的存储与起飞</a:t>
            </a:r>
            <a:r>
              <a:rPr sz="1100" kern="0" spc="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  </a:t>
            </a:r>
            <a:r>
              <a:rPr sz="11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平台，减少人工干预，提高无人机的出勤率，</a:t>
            </a:r>
            <a:r>
              <a:rPr sz="1100" kern="0" spc="8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100" kern="0" spc="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并确保无人机的安全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存放。搭载M350RTK</a:t>
            </a:r>
            <a:r>
              <a:rPr sz="11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  </a:t>
            </a:r>
            <a:r>
              <a:rPr sz="1100" kern="0" spc="-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系列无人机，能够实现从自动起飞、自动巡</a:t>
            </a:r>
            <a:r>
              <a:rPr sz="1100" kern="0" spc="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  </a:t>
            </a:r>
            <a:r>
              <a:rPr sz="1100" kern="0" spc="-8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航、自动拍摄、自动回巢充电、数据分析再到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  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自动起飞作业的一整套作业流程的远程</a:t>
            </a:r>
            <a:r>
              <a:rPr sz="11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化、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自动化进行。无需专业无人机飞手的参</a:t>
            </a:r>
            <a:r>
              <a:rPr sz="11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与，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保障了无人机飞行效果的稳定性与一致</a:t>
            </a:r>
            <a:r>
              <a:rPr sz="11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性，</a:t>
            </a:r>
            <a:r>
              <a:rPr sz="11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1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同时降低了无人机系统运营的综</a:t>
            </a:r>
            <a:r>
              <a:rPr sz="1100" kern="0" spc="-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合成本。</a:t>
            </a:r>
            <a:endParaRPr sz="11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15632" y="699650"/>
            <a:ext cx="5045710" cy="1061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3700" kern="0" spc="-10" dirty="0">
                <a:solidFill>
                  <a:srgbClr val="221815">
                    <a:alpha val="100000"/>
                  </a:srgbClr>
                </a:solidFill>
                <a:latin typeface="YouSheBiaoTiHei"/>
                <a:ea typeface="YouSheBiaoTiHei"/>
                <a:cs typeface="YouSheBiaoTiHei"/>
              </a:rPr>
              <a:t>无人机自主巡检系统</a:t>
            </a:r>
            <a:endParaRPr sz="3700" dirty="0">
              <a:latin typeface="YouSheBiaoTiHei"/>
              <a:ea typeface="YouSheBiaoTiHei"/>
              <a:cs typeface="YouSheBiaoTiHei"/>
            </a:endParaRPr>
          </a:p>
          <a:p>
            <a:pPr marL="2713990" algn="l" rtl="0" eaLnBrk="0">
              <a:lnSpc>
                <a:spcPct val="88000"/>
              </a:lnSpc>
              <a:spcBef>
                <a:spcPts val="871"/>
              </a:spcBef>
              <a:tabLst/>
            </a:pPr>
            <a:r>
              <a:rPr sz="16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自动机场</a:t>
            </a:r>
            <a:endParaRPr sz="16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600" b="1" kern="0" spc="-3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产品简介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561550" y="6964601"/>
            <a:ext cx="1899285" cy="735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9130" algn="l" rtl="0" eaLnBrk="0">
              <a:lnSpc>
                <a:spcPct val="87000"/>
              </a:lnSpc>
              <a:tabLst/>
            </a:pPr>
            <a:r>
              <a:rPr sz="1100" b="1" kern="0" spc="-3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高可靠性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8000"/>
              </a:lnSpc>
              <a:spcBef>
                <a:spcPts val="592"/>
              </a:spcBef>
              <a:tabLst/>
            </a:pPr>
            <a:r>
              <a:rPr sz="1000" kern="0" spc="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采用了先进的视觉融合引导降落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r" rtl="0" eaLnBrk="0">
              <a:lnSpc>
                <a:spcPct val="88000"/>
              </a:lnSpc>
              <a:spcBef>
                <a:spcPts val="337"/>
              </a:spcBef>
              <a:tabLst/>
            </a:pPr>
            <a:r>
              <a:rPr sz="1000" kern="0" spc="-5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技术，无论白天黑夜或刮风下</a:t>
            </a: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雨，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6703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000" kern="0" spc="-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无人机都能精准降落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4100841" y="6965523"/>
            <a:ext cx="1861185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1510" algn="l" rtl="0" eaLnBrk="0">
              <a:lnSpc>
                <a:spcPct val="87000"/>
              </a:lnSpc>
              <a:tabLst/>
            </a:pPr>
            <a:r>
              <a:rPr sz="1100" b="1" kern="0" spc="-2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气象监测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6510" indent="-3810" algn="l" rtl="0" eaLnBrk="0">
              <a:lnSpc>
                <a:spcPct val="116000"/>
              </a:lnSpc>
              <a:spcBef>
                <a:spcPts val="2"/>
              </a:spcBef>
              <a:tabLst/>
            </a:pPr>
            <a:r>
              <a:rPr sz="1000" kern="0" spc="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搭配的气象站和视频监控可供实</a:t>
            </a:r>
            <a:r>
              <a:rPr sz="1000" kern="0" spc="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000" kern="0" spc="-4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时了解运转情况，并自动判断起飞</a:t>
            </a: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000" kern="0" spc="-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环境，提供UPS 及自研工业空调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5245967" y="5805424"/>
            <a:ext cx="1593215" cy="735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9110" algn="l" rtl="0" eaLnBrk="0">
              <a:lnSpc>
                <a:spcPct val="86000"/>
              </a:lnSpc>
              <a:tabLst/>
            </a:pPr>
            <a:r>
              <a:rPr sz="1100" b="1" kern="0" spc="-3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高兼容性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algn="r" rtl="0" eaLnBrk="0">
              <a:lnSpc>
                <a:spcPct val="88000"/>
              </a:lnSpc>
              <a:spcBef>
                <a:spcPts val="592"/>
              </a:spcBef>
              <a:tabLst/>
            </a:pPr>
            <a:r>
              <a:rPr sz="1000" kern="0" spc="-7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可适配大疆经纬M350</a:t>
            </a:r>
            <a:r>
              <a:rPr sz="1000" kern="0" spc="1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000" kern="0" spc="-7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RTK、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17145" algn="l" rtl="0" eaLnBrk="0">
              <a:lnSpc>
                <a:spcPct val="88000"/>
              </a:lnSpc>
              <a:spcBef>
                <a:spcPts val="348"/>
              </a:spcBef>
              <a:tabLst/>
            </a:pP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M300</a:t>
            </a:r>
            <a:r>
              <a:rPr sz="1000" kern="0" spc="1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RTK无人机，根据行业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9000"/>
              </a:lnSpc>
              <a:tabLst/>
            </a:pPr>
            <a:r>
              <a:rPr sz="1000" kern="0" spc="-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应用场景适配相关挂载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04661" y="8716563"/>
            <a:ext cx="932827" cy="99585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7838" y="8706993"/>
            <a:ext cx="889931" cy="939675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73882" y="8723676"/>
            <a:ext cx="782008" cy="95919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63095" y="8813526"/>
            <a:ext cx="838320" cy="892956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872468" y="5806402"/>
            <a:ext cx="1342390" cy="556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5755" algn="l" rtl="0" eaLnBrk="0">
              <a:lnSpc>
                <a:spcPct val="87000"/>
              </a:lnSpc>
              <a:tabLst/>
            </a:pPr>
            <a:r>
              <a:rPr sz="1100" b="1" kern="0" spc="-2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小型化设计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89000"/>
              </a:lnSpc>
              <a:spcBef>
                <a:spcPts val="573"/>
              </a:spcBef>
              <a:tabLst/>
            </a:pP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极限压缩产品尺寸，宽度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470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000" kern="0" spc="-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仅有1米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155674" y="5805983"/>
            <a:ext cx="1297305" cy="562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7180" algn="l" rtl="0" eaLnBrk="0">
              <a:lnSpc>
                <a:spcPct val="86000"/>
              </a:lnSpc>
              <a:tabLst/>
            </a:pPr>
            <a:r>
              <a:rPr sz="1100" b="1" kern="0" spc="-2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极速充换电</a:t>
            </a:r>
            <a:endParaRPr sz="11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5085" indent="-32385" algn="l" rtl="0" eaLnBrk="0">
              <a:lnSpc>
                <a:spcPct val="115000"/>
              </a:lnSpc>
              <a:tabLst/>
            </a:pP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100秒极速换电，最多</a:t>
            </a:r>
            <a:r>
              <a:rPr sz="1000" kern="0" spc="-7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可</a:t>
            </a: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000" kern="0" spc="-2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支持8块电池同时充电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41559" y="8995810"/>
            <a:ext cx="897690" cy="648331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718947" y="7993195"/>
            <a:ext cx="1643379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600" b="1" kern="0" spc="-3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海量挂载自由搭配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714410" y="4871943"/>
            <a:ext cx="83312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600" b="1" kern="0" spc="-3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产品特点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628161" y="5395315"/>
            <a:ext cx="334200" cy="331432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327503" y="6560756"/>
            <a:ext cx="326237" cy="325932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58207" y="6563297"/>
            <a:ext cx="323354" cy="323456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843257" y="5399011"/>
            <a:ext cx="320382" cy="31971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396009" y="5392902"/>
            <a:ext cx="285737" cy="329641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10501" y="8281619"/>
            <a:ext cx="1683930" cy="32181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11596" y="1813814"/>
            <a:ext cx="1682900" cy="32181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12825" y="5160785"/>
            <a:ext cx="1682891" cy="321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10692003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6808" y="5016030"/>
            <a:ext cx="6075438" cy="285313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6812" y="1254211"/>
            <a:ext cx="6075433" cy="2853132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804621" y="8115759"/>
            <a:ext cx="6002655" cy="1746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9000"/>
              </a:lnSpc>
              <a:tabLst>
                <a:tab pos="179705" algn="l"/>
              </a:tabLst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7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支持态势感知，以图表的形式展示，便于领导者指挥、决策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93980" algn="l" rtl="0" eaLnBrk="0">
              <a:lnSpc>
                <a:spcPct val="89000"/>
              </a:lnSpc>
              <a:spcBef>
                <a:spcPts val="790"/>
              </a:spcBef>
              <a:tabLst>
                <a:tab pos="179705" algn="l"/>
              </a:tabLst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4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支持多设备集群调度，一屏掌握区域状况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93980" algn="l" rtl="0" eaLnBrk="0">
              <a:lnSpc>
                <a:spcPct val="89000"/>
              </a:lnSpc>
              <a:spcBef>
                <a:spcPts val="791"/>
              </a:spcBef>
              <a:tabLst>
                <a:tab pos="179705" algn="l"/>
              </a:tabLst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支持查看需求详情、事件反馈、飞行成果等信息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93980" algn="l" rtl="0" eaLnBrk="0">
              <a:lnSpc>
                <a:spcPct val="89000"/>
              </a:lnSpc>
              <a:spcBef>
                <a:spcPts val="784"/>
              </a:spcBef>
              <a:tabLst>
                <a:tab pos="179705" algn="l"/>
              </a:tabLst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5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支持远程下发任务，支持指点飞行、定时/周期/即时飞行任务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93980" algn="l" rtl="0" eaLnBrk="0">
              <a:lnSpc>
                <a:spcPct val="89000"/>
              </a:lnSpc>
              <a:spcBef>
                <a:spcPts val="791"/>
              </a:spcBef>
              <a:tabLst>
                <a:tab pos="179705" algn="l"/>
              </a:tabLst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支持通过键盘/摇杆等方式手动接管无人机，可远程控制喊话器等负载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93980" algn="l" rtl="0" eaLnBrk="0">
              <a:lnSpc>
                <a:spcPct val="89000"/>
              </a:lnSpc>
              <a:spcBef>
                <a:spcPts val="793"/>
              </a:spcBef>
              <a:tabLst>
                <a:tab pos="179705" algn="l"/>
              </a:tabLst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支持数字孪生展示，在线采集或一键导入正射影像等文件</a:t>
            </a:r>
            <a:r>
              <a:rPr sz="1000" kern="0" spc="-4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，通过三维实景辅助航线制定和任务监测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9070" indent="-85090" algn="l" rtl="0" eaLnBrk="0">
              <a:lnSpc>
                <a:spcPct val="107000"/>
              </a:lnSpc>
              <a:spcBef>
                <a:spcPts val="3"/>
              </a:spcBef>
              <a:tabLst/>
            </a:pPr>
            <a:r>
              <a:rPr sz="1000" kern="0" spc="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	</a:t>
            </a:r>
            <a:r>
              <a:rPr sz="10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支持基于无人机自主巡检航空平台搭载AI视觉模型和行业大模型，提供涵盖设备设施、人</a:t>
            </a:r>
            <a:r>
              <a:rPr sz="1000" kern="0" spc="-7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、道路、车辆、火点、</a:t>
            </a:r>
            <a:r>
              <a:rPr sz="10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 </a:t>
            </a:r>
            <a:r>
              <a:rPr sz="1000" kern="0" spc="-3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船舶等众多保障安全、规范管理</a:t>
            </a:r>
            <a:r>
              <a:rPr sz="1000" kern="0" spc="-4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的AI视觉巡检服务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7321" y="9568294"/>
            <a:ext cx="81648" cy="8164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7321" y="9328912"/>
            <a:ext cx="81648" cy="81635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7321" y="9099969"/>
            <a:ext cx="81648" cy="81635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17321" y="8862123"/>
            <a:ext cx="81648" cy="81635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17321" y="8624266"/>
            <a:ext cx="81648" cy="81635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17321" y="8391830"/>
            <a:ext cx="81648" cy="81648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17321" y="8158341"/>
            <a:ext cx="81648" cy="81648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718581" y="4241625"/>
            <a:ext cx="6098540" cy="643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1100" kern="0" spc="-4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整合自动机场、无人机、吊舱等多种飞行资源，全栈自研低空无人机自主巡检平台，旨在推动低空</a:t>
            </a:r>
            <a:endParaRPr sz="1100" dirty="0">
              <a:latin typeface="Source Han Sans CN Medium"/>
              <a:ea typeface="Source Han Sans CN Medium"/>
              <a:cs typeface="Source Han Sans CN Medium"/>
            </a:endParaRPr>
          </a:p>
          <a:p>
            <a:pPr marL="12700" algn="l" rtl="0" eaLnBrk="0">
              <a:lnSpc>
                <a:spcPct val="89000"/>
              </a:lnSpc>
              <a:spcBef>
                <a:spcPts val="725"/>
              </a:spcBef>
              <a:tabLst/>
            </a:pPr>
            <a:r>
              <a:rPr sz="1100" kern="0" spc="-6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经济发展，并全面满足不同层级用户的实际需求。结合AI智能算法实现各行业智能化应用，提供燃气、电</a:t>
            </a:r>
            <a:endParaRPr sz="1100" dirty="0">
              <a:latin typeface="Source Han Sans CN Medium"/>
              <a:ea typeface="Source Han Sans CN Medium"/>
              <a:cs typeface="Source Han Sans CN Medium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9000"/>
              </a:lnSpc>
              <a:tabLst/>
            </a:pPr>
            <a:r>
              <a:rPr sz="1000" kern="0" spc="-10" dirty="0">
                <a:solidFill>
                  <a:srgbClr val="221815">
                    <a:alpha val="100000"/>
                  </a:srgbClr>
                </a:solidFill>
                <a:latin typeface="Source Han Sans CN Medium"/>
                <a:ea typeface="Source Han Sans CN Medium"/>
                <a:cs typeface="Source Han Sans CN Medium"/>
              </a:rPr>
              <a:t>力、交通、林业、公安、城管、应急等多行业应用与定制化支持。</a:t>
            </a:r>
            <a:endParaRPr sz="1000" dirty="0">
              <a:latin typeface="Source Han Sans CN Medium"/>
              <a:ea typeface="Source Han Sans CN Medium"/>
              <a:cs typeface="Source Han Sans CN Medium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714077" y="748607"/>
            <a:ext cx="1847850" cy="236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600" b="1" kern="0" spc="-20" dirty="0">
                <a:solidFill>
                  <a:srgbClr val="22181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无人机自主巡检平台</a:t>
            </a:r>
            <a:endParaRPr sz="16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09041" y="1039876"/>
            <a:ext cx="1683942" cy="32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Adobe Illustrator 25.3 (Macintosh)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无人机自主巡视系统</dc:title>
  <dcterms:created xsi:type="dcterms:W3CDTF">2025-07-22T08:44:49Z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2025-07-22T08:48:06</vt:filetime>
  </property>
</Properties>
</file>